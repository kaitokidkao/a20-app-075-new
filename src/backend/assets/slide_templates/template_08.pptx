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Lazydog" charset="1" panose="00000000000000000000"/>
      <p:regular r:id="rId26"/>
    </p:embeddedFont>
    <p:embeddedFont>
      <p:font typeface="IreneFlorentina" charset="1" panose="02000503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9693007" y="2276428"/>
            <a:ext cx="8005802" cy="8824030"/>
          </a:xfrm>
          <a:custGeom>
            <a:avLst/>
            <a:gdLst/>
            <a:ahLst/>
            <a:cxnLst/>
            <a:rect r="r" b="b" t="t" l="l"/>
            <a:pathLst>
              <a:path h="8824030" w="8005802">
                <a:moveTo>
                  <a:pt x="0" y="0"/>
                </a:moveTo>
                <a:lnTo>
                  <a:pt x="8005802" y="0"/>
                </a:lnTo>
                <a:lnTo>
                  <a:pt x="8005802" y="8824030"/>
                </a:lnTo>
                <a:lnTo>
                  <a:pt x="0" y="8824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747875" y="1252491"/>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013025" y="7844738"/>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2813737"/>
            <a:ext cx="8664307" cy="4156034"/>
          </a:xfrm>
          <a:prstGeom prst="rect">
            <a:avLst/>
          </a:prstGeom>
        </p:spPr>
        <p:txBody>
          <a:bodyPr anchor="t" rtlCol="false" tIns="0" lIns="0" bIns="0" rIns="0">
            <a:spAutoFit/>
          </a:bodyPr>
          <a:lstStyle/>
          <a:p>
            <a:pPr algn="l">
              <a:lnSpc>
                <a:spcPts val="10668"/>
              </a:lnSpc>
            </a:pPr>
            <a:r>
              <a:rPr lang="en-US" sz="12123">
                <a:solidFill>
                  <a:srgbClr val="525252"/>
                </a:solidFill>
                <a:latin typeface="Lazydog"/>
                <a:ea typeface="Lazydog"/>
                <a:cs typeface="Lazydog"/>
                <a:sym typeface="Lazydog"/>
              </a:rPr>
              <a:t>Social Emotional Learning</a:t>
            </a:r>
          </a:p>
        </p:txBody>
      </p:sp>
      <p:sp>
        <p:nvSpPr>
          <p:cNvPr name="TextBox 6" id="6"/>
          <p:cNvSpPr txBox="true"/>
          <p:nvPr/>
        </p:nvSpPr>
        <p:spPr>
          <a:xfrm rot="0">
            <a:off x="1028700" y="8899717"/>
            <a:ext cx="4990956" cy="358583"/>
          </a:xfrm>
          <a:prstGeom prst="rect">
            <a:avLst/>
          </a:prstGeom>
        </p:spPr>
        <p:txBody>
          <a:bodyPr anchor="t" rtlCol="false" tIns="0" lIns="0" bIns="0" rIns="0">
            <a:spAutoFit/>
          </a:bodyPr>
          <a:lstStyle/>
          <a:p>
            <a:pPr algn="l">
              <a:lnSpc>
                <a:spcPts val="2868"/>
              </a:lnSpc>
              <a:spcBef>
                <a:spcPct val="0"/>
              </a:spcBef>
            </a:pPr>
            <a:r>
              <a:rPr lang="en-US" sz="2048">
                <a:solidFill>
                  <a:srgbClr val="525252"/>
                </a:solidFill>
                <a:latin typeface="IreneFlorentina"/>
                <a:ea typeface="IreneFlorentina"/>
                <a:cs typeface="IreneFlorentina"/>
                <a:sym typeface="IreneFlorentina"/>
              </a:rPr>
              <a:t>Presented By Morgan Maxwell</a:t>
            </a:r>
          </a:p>
        </p:txBody>
      </p:sp>
      <p:sp>
        <p:nvSpPr>
          <p:cNvPr name="TextBox 7" id="7"/>
          <p:cNvSpPr txBox="true"/>
          <p:nvPr/>
        </p:nvSpPr>
        <p:spPr>
          <a:xfrm rot="0">
            <a:off x="1028700" y="6854194"/>
            <a:ext cx="4482960" cy="990544"/>
          </a:xfrm>
          <a:prstGeom prst="rect">
            <a:avLst/>
          </a:prstGeom>
        </p:spPr>
        <p:txBody>
          <a:bodyPr anchor="t" rtlCol="false" tIns="0" lIns="0" bIns="0" rIns="0">
            <a:spAutoFit/>
          </a:bodyPr>
          <a:lstStyle/>
          <a:p>
            <a:pPr algn="l">
              <a:lnSpc>
                <a:spcPts val="3931"/>
              </a:lnSpc>
              <a:spcBef>
                <a:spcPct val="0"/>
              </a:spcBef>
            </a:pPr>
            <a:r>
              <a:rPr lang="en-US" sz="2808">
                <a:solidFill>
                  <a:srgbClr val="525252"/>
                </a:solidFill>
                <a:latin typeface="IreneFlorentina"/>
                <a:ea typeface="IreneFlorentina"/>
                <a:cs typeface="IreneFlorentina"/>
                <a:sym typeface="IreneFlorentina"/>
              </a:rPr>
              <a:t>Building Skills for Life and Well-Being</a:t>
            </a:r>
          </a:p>
        </p:txBody>
      </p:sp>
      <p:sp>
        <p:nvSpPr>
          <p:cNvPr name="TextBox 8" id="8"/>
          <p:cNvSpPr txBox="true"/>
          <p:nvPr/>
        </p:nvSpPr>
        <p:spPr>
          <a:xfrm rot="0">
            <a:off x="1028700" y="984963"/>
            <a:ext cx="4990956" cy="358583"/>
          </a:xfrm>
          <a:prstGeom prst="rect">
            <a:avLst/>
          </a:prstGeom>
        </p:spPr>
        <p:txBody>
          <a:bodyPr anchor="t" rtlCol="false" tIns="0" lIns="0" bIns="0" rIns="0">
            <a:spAutoFit/>
          </a:bodyPr>
          <a:lstStyle/>
          <a:p>
            <a:pPr algn="l">
              <a:lnSpc>
                <a:spcPts val="2868"/>
              </a:lnSpc>
              <a:spcBef>
                <a:spcPct val="0"/>
              </a:spcBef>
            </a:pPr>
            <a:r>
              <a:rPr lang="en-US" sz="2048">
                <a:solidFill>
                  <a:srgbClr val="525252"/>
                </a:solidFill>
                <a:latin typeface="IreneFlorentina"/>
                <a:ea typeface="IreneFlorentina"/>
                <a:cs typeface="IreneFlorentina"/>
                <a:sym typeface="IreneFlorentina"/>
              </a:rPr>
              <a:t>Warner &amp; Spencer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399928" y="1385997"/>
            <a:ext cx="6853637" cy="4849650"/>
          </a:xfrm>
          <a:custGeom>
            <a:avLst/>
            <a:gdLst/>
            <a:ahLst/>
            <a:cxnLst/>
            <a:rect r="r" b="b" t="t" l="l"/>
            <a:pathLst>
              <a:path h="4849650" w="6853637">
                <a:moveTo>
                  <a:pt x="0" y="0"/>
                </a:moveTo>
                <a:lnTo>
                  <a:pt x="6853637" y="0"/>
                </a:lnTo>
                <a:lnTo>
                  <a:pt x="6853637" y="4849650"/>
                </a:lnTo>
                <a:lnTo>
                  <a:pt x="0" y="48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892751"/>
            <a:ext cx="8712441" cy="3215571"/>
          </a:xfrm>
          <a:prstGeom prst="rect">
            <a:avLst/>
          </a:prstGeom>
        </p:spPr>
        <p:txBody>
          <a:bodyPr anchor="t" rtlCol="false" tIns="0" lIns="0" bIns="0" rIns="0">
            <a:spAutoFit/>
          </a:bodyPr>
          <a:lstStyle/>
          <a:p>
            <a:pPr algn="l">
              <a:lnSpc>
                <a:spcPts val="8205"/>
              </a:lnSpc>
            </a:pPr>
            <a:r>
              <a:rPr lang="en-US" sz="9324">
                <a:solidFill>
                  <a:srgbClr val="525252"/>
                </a:solidFill>
                <a:latin typeface="Lazydog"/>
                <a:ea typeface="Lazydog"/>
                <a:cs typeface="Lazydog"/>
                <a:sym typeface="Lazydog"/>
              </a:rPr>
              <a:t>What Is </a:t>
            </a:r>
            <a:r>
              <a:rPr lang="en-US" sz="9324">
                <a:solidFill>
                  <a:srgbClr val="525252"/>
                </a:solidFill>
                <a:latin typeface="Lazydog"/>
                <a:ea typeface="Lazydog"/>
                <a:cs typeface="Lazydog"/>
                <a:sym typeface="Lazydog"/>
              </a:rPr>
              <a:t>Social Emotional Learning?</a:t>
            </a:r>
          </a:p>
        </p:txBody>
      </p:sp>
      <p:sp>
        <p:nvSpPr>
          <p:cNvPr name="TextBox 4" id="4"/>
          <p:cNvSpPr txBox="true"/>
          <p:nvPr/>
        </p:nvSpPr>
        <p:spPr>
          <a:xfrm rot="0">
            <a:off x="1028700" y="7387264"/>
            <a:ext cx="3446165" cy="7359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Social Emotional Learning (SEL) is the process of developing emotional and social skills</a:t>
            </a:r>
          </a:p>
        </p:txBody>
      </p:sp>
      <p:sp>
        <p:nvSpPr>
          <p:cNvPr name="TextBox 5" id="5"/>
          <p:cNvSpPr txBox="true"/>
          <p:nvPr/>
        </p:nvSpPr>
        <p:spPr>
          <a:xfrm rot="0">
            <a:off x="1028700"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6" id="6"/>
          <p:cNvSpPr txBox="true"/>
          <p:nvPr/>
        </p:nvSpPr>
        <p:spPr>
          <a:xfrm rot="0">
            <a:off x="6092832" y="7387264"/>
            <a:ext cx="2158076" cy="7359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It helps individuals understand and manage emotions</a:t>
            </a:r>
          </a:p>
        </p:txBody>
      </p:sp>
      <p:sp>
        <p:nvSpPr>
          <p:cNvPr name="TextBox 7" id="7"/>
          <p:cNvSpPr txBox="true"/>
          <p:nvPr/>
        </p:nvSpPr>
        <p:spPr>
          <a:xfrm rot="0">
            <a:off x="6092832"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8" id="8"/>
          <p:cNvSpPr txBox="true"/>
          <p:nvPr/>
        </p:nvSpPr>
        <p:spPr>
          <a:xfrm rot="0">
            <a:off x="11156963" y="7387264"/>
            <a:ext cx="2669783" cy="7359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SEL supports healthy relationships and decision-making</a:t>
            </a:r>
          </a:p>
        </p:txBody>
      </p:sp>
      <p:sp>
        <p:nvSpPr>
          <p:cNvPr name="TextBox 9" id="9"/>
          <p:cNvSpPr txBox="true"/>
          <p:nvPr/>
        </p:nvSpPr>
        <p:spPr>
          <a:xfrm rot="0">
            <a:off x="11156963"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Freeform 10" id="10"/>
          <p:cNvSpPr/>
          <p:nvPr/>
        </p:nvSpPr>
        <p:spPr>
          <a:xfrm flipH="false" flipV="false" rot="0">
            <a:off x="1783922" y="1385997"/>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524450" y="7388379"/>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285734" y="2850412"/>
            <a:ext cx="8002266" cy="7436588"/>
          </a:xfrm>
          <a:custGeom>
            <a:avLst/>
            <a:gdLst/>
            <a:ahLst/>
            <a:cxnLst/>
            <a:rect r="r" b="b" t="t" l="l"/>
            <a:pathLst>
              <a:path h="7436588" w="8002266">
                <a:moveTo>
                  <a:pt x="0" y="0"/>
                </a:moveTo>
                <a:lnTo>
                  <a:pt x="8002266" y="0"/>
                </a:lnTo>
                <a:lnTo>
                  <a:pt x="8002266" y="7436588"/>
                </a:lnTo>
                <a:lnTo>
                  <a:pt x="0" y="7436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769236"/>
            <a:ext cx="8712441" cy="2181131"/>
          </a:xfrm>
          <a:prstGeom prst="rect">
            <a:avLst/>
          </a:prstGeom>
        </p:spPr>
        <p:txBody>
          <a:bodyPr anchor="t" rtlCol="false" tIns="0" lIns="0" bIns="0" rIns="0">
            <a:spAutoFit/>
          </a:bodyPr>
          <a:lstStyle/>
          <a:p>
            <a:pPr algn="l">
              <a:lnSpc>
                <a:spcPts val="8205"/>
              </a:lnSpc>
            </a:pPr>
            <a:r>
              <a:rPr lang="en-US" sz="9324">
                <a:solidFill>
                  <a:srgbClr val="525252"/>
                </a:solidFill>
                <a:latin typeface="Lazydog"/>
                <a:ea typeface="Lazydog"/>
                <a:cs typeface="Lazydog"/>
                <a:sym typeface="Lazydog"/>
              </a:rPr>
              <a:t>Why SEL Is I</a:t>
            </a:r>
            <a:r>
              <a:rPr lang="en-US" sz="9324">
                <a:solidFill>
                  <a:srgbClr val="525252"/>
                </a:solidFill>
                <a:latin typeface="Lazydog"/>
                <a:ea typeface="Lazydog"/>
                <a:cs typeface="Lazydog"/>
                <a:sym typeface="Lazydog"/>
              </a:rPr>
              <a:t>mportant</a:t>
            </a:r>
          </a:p>
        </p:txBody>
      </p:sp>
      <p:sp>
        <p:nvSpPr>
          <p:cNvPr name="TextBox 4" id="4"/>
          <p:cNvSpPr txBox="true"/>
          <p:nvPr/>
        </p:nvSpPr>
        <p:spPr>
          <a:xfrm rot="0">
            <a:off x="1028700" y="8274685"/>
            <a:ext cx="4568832" cy="98361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Improves emotional awareness</a:t>
            </a:r>
          </a:p>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Builds positive relationships</a:t>
            </a:r>
          </a:p>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Enhances academic and life success</a:t>
            </a:r>
          </a:p>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Supports mental well-being</a:t>
            </a:r>
          </a:p>
        </p:txBody>
      </p:sp>
      <p:sp>
        <p:nvSpPr>
          <p:cNvPr name="TextBox 5" id="5"/>
          <p:cNvSpPr txBox="true"/>
          <p:nvPr/>
        </p:nvSpPr>
        <p:spPr>
          <a:xfrm rot="0">
            <a:off x="5722285"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6" id="6"/>
          <p:cNvSpPr txBox="true"/>
          <p:nvPr/>
        </p:nvSpPr>
        <p:spPr>
          <a:xfrm rot="0">
            <a:off x="1028700" y="6081530"/>
            <a:ext cx="7317977" cy="17265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7" id="7"/>
          <p:cNvSpPr/>
          <p:nvPr/>
        </p:nvSpPr>
        <p:spPr>
          <a:xfrm flipH="false" flipV="false" rot="0">
            <a:off x="1659153" y="1028700"/>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373716" y="5143500"/>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9379097" y="3484791"/>
            <a:ext cx="7736841" cy="7525836"/>
          </a:xfrm>
          <a:custGeom>
            <a:avLst/>
            <a:gdLst/>
            <a:ahLst/>
            <a:cxnLst/>
            <a:rect r="r" b="b" t="t" l="l"/>
            <a:pathLst>
              <a:path h="7525836" w="7736841">
                <a:moveTo>
                  <a:pt x="0" y="0"/>
                </a:moveTo>
                <a:lnTo>
                  <a:pt x="7736841" y="0"/>
                </a:lnTo>
                <a:lnTo>
                  <a:pt x="7736841" y="7525837"/>
                </a:lnTo>
                <a:lnTo>
                  <a:pt x="0" y="75258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954" y="6770500"/>
            <a:ext cx="7456389" cy="2487800"/>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Self-Aw</a:t>
            </a:r>
            <a:r>
              <a:rPr lang="en-US" sz="10710">
                <a:solidFill>
                  <a:srgbClr val="525252"/>
                </a:solidFill>
                <a:latin typeface="Lazydog"/>
                <a:ea typeface="Lazydog"/>
                <a:cs typeface="Lazydog"/>
                <a:sym typeface="Lazydog"/>
              </a:rPr>
              <a:t>areness</a:t>
            </a:r>
          </a:p>
        </p:txBody>
      </p:sp>
      <p:sp>
        <p:nvSpPr>
          <p:cNvPr name="TextBox 4" id="4"/>
          <p:cNvSpPr txBox="true"/>
          <p:nvPr/>
        </p:nvSpPr>
        <p:spPr>
          <a:xfrm rot="0">
            <a:off x="1028954" y="1000125"/>
            <a:ext cx="4568832" cy="240665"/>
          </a:xfrm>
          <a:prstGeom prst="rect">
            <a:avLst/>
          </a:prstGeom>
        </p:spPr>
        <p:txBody>
          <a:bodyPr anchor="t" rtlCol="false" tIns="0" lIns="0" bIns="0" rIns="0">
            <a:spAutoFit/>
          </a:bodyPr>
          <a:lstStyle/>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Rec</a:t>
            </a:r>
            <a:r>
              <a:rPr lang="en-US" sz="1400">
                <a:solidFill>
                  <a:srgbClr val="525252"/>
                </a:solidFill>
                <a:latin typeface="IreneFlorentina"/>
                <a:ea typeface="IreneFlorentina"/>
                <a:cs typeface="IreneFlorentina"/>
                <a:sym typeface="IreneFlorentina"/>
              </a:rPr>
              <a:t>ognizing emotions and thoughts</a:t>
            </a:r>
          </a:p>
        </p:txBody>
      </p:sp>
      <p:sp>
        <p:nvSpPr>
          <p:cNvPr name="TextBox 5" id="5"/>
          <p:cNvSpPr txBox="true"/>
          <p:nvPr/>
        </p:nvSpPr>
        <p:spPr>
          <a:xfrm rot="0">
            <a:off x="1028700" y="1374140"/>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6" id="6"/>
          <p:cNvSpPr txBox="true"/>
          <p:nvPr/>
        </p:nvSpPr>
        <p:spPr>
          <a:xfrm rot="0">
            <a:off x="12690468" y="1000125"/>
            <a:ext cx="4568832" cy="240665"/>
          </a:xfrm>
          <a:prstGeom prst="rect">
            <a:avLst/>
          </a:prstGeom>
        </p:spPr>
        <p:txBody>
          <a:bodyPr anchor="t" rtlCol="false" tIns="0" lIns="0" bIns="0" rIns="0">
            <a:spAutoFit/>
          </a:bodyPr>
          <a:lstStyle/>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Bu</a:t>
            </a:r>
            <a:r>
              <a:rPr lang="en-US" sz="1400">
                <a:solidFill>
                  <a:srgbClr val="525252"/>
                </a:solidFill>
                <a:latin typeface="IreneFlorentina"/>
                <a:ea typeface="IreneFlorentina"/>
                <a:cs typeface="IreneFlorentina"/>
                <a:sym typeface="IreneFlorentina"/>
              </a:rPr>
              <a:t>ilding confidence and self-esteem</a:t>
            </a:r>
          </a:p>
        </p:txBody>
      </p:sp>
      <p:sp>
        <p:nvSpPr>
          <p:cNvPr name="TextBox 7" id="7"/>
          <p:cNvSpPr txBox="true"/>
          <p:nvPr/>
        </p:nvSpPr>
        <p:spPr>
          <a:xfrm rot="0">
            <a:off x="12690215" y="1374140"/>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8" id="8"/>
          <p:cNvSpPr txBox="true"/>
          <p:nvPr/>
        </p:nvSpPr>
        <p:spPr>
          <a:xfrm rot="0">
            <a:off x="6201053" y="1000125"/>
            <a:ext cx="5886147" cy="240665"/>
          </a:xfrm>
          <a:prstGeom prst="rect">
            <a:avLst/>
          </a:prstGeom>
        </p:spPr>
        <p:txBody>
          <a:bodyPr anchor="t" rtlCol="false" tIns="0" lIns="0" bIns="0" rIns="0">
            <a:spAutoFit/>
          </a:bodyPr>
          <a:lstStyle/>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Understa</a:t>
            </a:r>
            <a:r>
              <a:rPr lang="en-US" sz="1400">
                <a:solidFill>
                  <a:srgbClr val="525252"/>
                </a:solidFill>
                <a:latin typeface="IreneFlorentina"/>
                <a:ea typeface="IreneFlorentina"/>
                <a:cs typeface="IreneFlorentina"/>
                <a:sym typeface="IreneFlorentina"/>
              </a:rPr>
              <a:t>nding personal strengths and weaknesses</a:t>
            </a:r>
          </a:p>
        </p:txBody>
      </p:sp>
      <p:sp>
        <p:nvSpPr>
          <p:cNvPr name="TextBox 9" id="9"/>
          <p:cNvSpPr txBox="true"/>
          <p:nvPr/>
        </p:nvSpPr>
        <p:spPr>
          <a:xfrm rot="0">
            <a:off x="6200800" y="1374140"/>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Freeform 10" id="10"/>
          <p:cNvSpPr/>
          <p:nvPr/>
        </p:nvSpPr>
        <p:spPr>
          <a:xfrm flipH="false" flipV="false" rot="0">
            <a:off x="3313243" y="3747869"/>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891875" y="8523450"/>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058145" y="1028700"/>
            <a:ext cx="7201155" cy="8217086"/>
          </a:xfrm>
          <a:custGeom>
            <a:avLst/>
            <a:gdLst/>
            <a:ahLst/>
            <a:cxnLst/>
            <a:rect r="r" b="b" t="t" l="l"/>
            <a:pathLst>
              <a:path h="8217086" w="7201155">
                <a:moveTo>
                  <a:pt x="0" y="0"/>
                </a:moveTo>
                <a:lnTo>
                  <a:pt x="7201155" y="0"/>
                </a:lnTo>
                <a:lnTo>
                  <a:pt x="7201155" y="8217086"/>
                </a:lnTo>
                <a:lnTo>
                  <a:pt x="0" y="8217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954" y="3769823"/>
            <a:ext cx="9029191" cy="2487800"/>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Self-Man</a:t>
            </a:r>
            <a:r>
              <a:rPr lang="en-US" sz="10710">
                <a:solidFill>
                  <a:srgbClr val="525252"/>
                </a:solidFill>
                <a:latin typeface="Lazydog"/>
                <a:ea typeface="Lazydog"/>
                <a:cs typeface="Lazydog"/>
                <a:sym typeface="Lazydog"/>
              </a:rPr>
              <a:t>agement</a:t>
            </a:r>
          </a:p>
        </p:txBody>
      </p:sp>
      <p:sp>
        <p:nvSpPr>
          <p:cNvPr name="TextBox 4" id="4"/>
          <p:cNvSpPr txBox="true"/>
          <p:nvPr/>
        </p:nvSpPr>
        <p:spPr>
          <a:xfrm rot="0">
            <a:off x="5543549" y="3738578"/>
            <a:ext cx="3492737" cy="735965"/>
          </a:xfrm>
          <a:prstGeom prst="rect">
            <a:avLst/>
          </a:prstGeom>
        </p:spPr>
        <p:txBody>
          <a:bodyPr anchor="t" rtlCol="false" tIns="0" lIns="0" bIns="0" rIns="0">
            <a:spAutoFit/>
          </a:bodyPr>
          <a:lstStyle/>
          <a:p>
            <a:pPr algn="l">
              <a:lnSpc>
                <a:spcPts val="1960"/>
              </a:lnSpc>
            </a:pPr>
            <a:r>
              <a:rPr lang="en-US" sz="1400">
                <a:solidFill>
                  <a:srgbClr val="525252"/>
                </a:solidFill>
                <a:latin typeface="IreneFlorentina"/>
                <a:ea typeface="IreneFlorentina"/>
                <a:cs typeface="IreneFlorentina"/>
                <a:sym typeface="IreneFlorentina"/>
              </a:rPr>
              <a:t>Managing emotions and stress</a:t>
            </a:r>
          </a:p>
          <a:p>
            <a:pPr algn="l">
              <a:lnSpc>
                <a:spcPts val="1960"/>
              </a:lnSpc>
            </a:pPr>
            <a:r>
              <a:rPr lang="en-US" sz="1400">
                <a:solidFill>
                  <a:srgbClr val="525252"/>
                </a:solidFill>
                <a:latin typeface="IreneFlorentina"/>
                <a:ea typeface="IreneFlorentina"/>
                <a:cs typeface="IreneFlorentina"/>
                <a:sym typeface="IreneFlorentina"/>
              </a:rPr>
              <a:t>Controlling impulses</a:t>
            </a:r>
          </a:p>
          <a:p>
            <a:pPr algn="l">
              <a:lnSpc>
                <a:spcPts val="1960"/>
              </a:lnSpc>
            </a:pPr>
            <a:r>
              <a:rPr lang="en-US" sz="1400">
                <a:solidFill>
                  <a:srgbClr val="525252"/>
                </a:solidFill>
                <a:latin typeface="IreneFlorentina"/>
                <a:ea typeface="IreneFlorentina"/>
                <a:cs typeface="IreneFlorentina"/>
                <a:sym typeface="IreneFlorentina"/>
              </a:rPr>
              <a:t>Setting and achieving goals</a:t>
            </a:r>
          </a:p>
        </p:txBody>
      </p:sp>
      <p:sp>
        <p:nvSpPr>
          <p:cNvPr name="TextBox 5" id="5"/>
          <p:cNvSpPr txBox="true"/>
          <p:nvPr/>
        </p:nvSpPr>
        <p:spPr>
          <a:xfrm rot="0">
            <a:off x="1028954" y="6389849"/>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6" id="6"/>
          <p:cNvSpPr txBox="true"/>
          <p:nvPr/>
        </p:nvSpPr>
        <p:spPr>
          <a:xfrm rot="0">
            <a:off x="1028954" y="7779385"/>
            <a:ext cx="8345128" cy="14789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7" id="7"/>
          <p:cNvSpPr/>
          <p:nvPr/>
        </p:nvSpPr>
        <p:spPr>
          <a:xfrm flipH="false" flipV="false" rot="0">
            <a:off x="2357859" y="1526983"/>
            <a:ext cx="734850" cy="734850"/>
          </a:xfrm>
          <a:custGeom>
            <a:avLst/>
            <a:gdLst/>
            <a:ahLst/>
            <a:cxnLst/>
            <a:rect r="r" b="b" t="t" l="l"/>
            <a:pathLst>
              <a:path h="734850" w="734850">
                <a:moveTo>
                  <a:pt x="0" y="0"/>
                </a:moveTo>
                <a:lnTo>
                  <a:pt x="734850" y="0"/>
                </a:lnTo>
                <a:lnTo>
                  <a:pt x="734850" y="734849"/>
                </a:lnTo>
                <a:lnTo>
                  <a:pt x="0" y="734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245923" y="8533130"/>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205031" y="2441069"/>
            <a:ext cx="10806421" cy="9072057"/>
          </a:xfrm>
          <a:custGeom>
            <a:avLst/>
            <a:gdLst/>
            <a:ahLst/>
            <a:cxnLst/>
            <a:rect r="r" b="b" t="t" l="l"/>
            <a:pathLst>
              <a:path h="9072057" w="10806421">
                <a:moveTo>
                  <a:pt x="0" y="0"/>
                </a:moveTo>
                <a:lnTo>
                  <a:pt x="10806422" y="0"/>
                </a:lnTo>
                <a:lnTo>
                  <a:pt x="10806422" y="9072057"/>
                </a:lnTo>
                <a:lnTo>
                  <a:pt x="0" y="90720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954" y="3570193"/>
            <a:ext cx="8115046" cy="2487800"/>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Social Awar</a:t>
            </a:r>
            <a:r>
              <a:rPr lang="en-US" sz="10710">
                <a:solidFill>
                  <a:srgbClr val="525252"/>
                </a:solidFill>
                <a:latin typeface="Lazydog"/>
                <a:ea typeface="Lazydog"/>
                <a:cs typeface="Lazydog"/>
                <a:sym typeface="Lazydog"/>
              </a:rPr>
              <a:t>eness</a:t>
            </a:r>
          </a:p>
        </p:txBody>
      </p:sp>
      <p:sp>
        <p:nvSpPr>
          <p:cNvPr name="TextBox 4" id="4"/>
          <p:cNvSpPr txBox="true"/>
          <p:nvPr/>
        </p:nvSpPr>
        <p:spPr>
          <a:xfrm rot="0">
            <a:off x="5823024" y="3538948"/>
            <a:ext cx="3492737" cy="735965"/>
          </a:xfrm>
          <a:prstGeom prst="rect">
            <a:avLst/>
          </a:prstGeom>
        </p:spPr>
        <p:txBody>
          <a:bodyPr anchor="t" rtlCol="false" tIns="0" lIns="0" bIns="0" rIns="0">
            <a:spAutoFit/>
          </a:bodyPr>
          <a:lstStyle/>
          <a:p>
            <a:pPr algn="l">
              <a:lnSpc>
                <a:spcPts val="1960"/>
              </a:lnSpc>
            </a:pPr>
            <a:r>
              <a:rPr lang="en-US" sz="1400">
                <a:solidFill>
                  <a:srgbClr val="525252"/>
                </a:solidFill>
                <a:latin typeface="IreneFlorentina"/>
                <a:ea typeface="IreneFlorentina"/>
                <a:cs typeface="IreneFlorentina"/>
                <a:sym typeface="IreneFlorentina"/>
              </a:rPr>
              <a:t>Managing emotions and stress</a:t>
            </a:r>
          </a:p>
          <a:p>
            <a:pPr algn="l">
              <a:lnSpc>
                <a:spcPts val="1960"/>
              </a:lnSpc>
            </a:pPr>
            <a:r>
              <a:rPr lang="en-US" sz="1400">
                <a:solidFill>
                  <a:srgbClr val="525252"/>
                </a:solidFill>
                <a:latin typeface="IreneFlorentina"/>
                <a:ea typeface="IreneFlorentina"/>
                <a:cs typeface="IreneFlorentina"/>
                <a:sym typeface="IreneFlorentina"/>
              </a:rPr>
              <a:t>Controlling impulses</a:t>
            </a:r>
          </a:p>
          <a:p>
            <a:pPr algn="l">
              <a:lnSpc>
                <a:spcPts val="1960"/>
              </a:lnSpc>
            </a:pPr>
            <a:r>
              <a:rPr lang="en-US" sz="1400">
                <a:solidFill>
                  <a:srgbClr val="525252"/>
                </a:solidFill>
                <a:latin typeface="IreneFlorentina"/>
                <a:ea typeface="IreneFlorentina"/>
                <a:cs typeface="IreneFlorentina"/>
                <a:sym typeface="IreneFlorentina"/>
              </a:rPr>
              <a:t>Setting and achieving goals</a:t>
            </a:r>
          </a:p>
        </p:txBody>
      </p:sp>
      <p:sp>
        <p:nvSpPr>
          <p:cNvPr name="TextBox 5" id="5"/>
          <p:cNvSpPr txBox="true"/>
          <p:nvPr/>
        </p:nvSpPr>
        <p:spPr>
          <a:xfrm rot="0">
            <a:off x="1028954" y="6389849"/>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Understanding others’ feelings</a:t>
            </a:r>
          </a:p>
        </p:txBody>
      </p:sp>
      <p:sp>
        <p:nvSpPr>
          <p:cNvPr name="TextBox 6" id="6"/>
          <p:cNvSpPr txBox="true"/>
          <p:nvPr/>
        </p:nvSpPr>
        <p:spPr>
          <a:xfrm rot="0">
            <a:off x="1028954" y="6763864"/>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7" id="7"/>
          <p:cNvSpPr txBox="true"/>
          <p:nvPr/>
        </p:nvSpPr>
        <p:spPr>
          <a:xfrm rot="0">
            <a:off x="5823024" y="6389849"/>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Showing empathy and respect</a:t>
            </a:r>
          </a:p>
        </p:txBody>
      </p:sp>
      <p:sp>
        <p:nvSpPr>
          <p:cNvPr name="TextBox 8" id="8"/>
          <p:cNvSpPr txBox="true"/>
          <p:nvPr/>
        </p:nvSpPr>
        <p:spPr>
          <a:xfrm rot="0">
            <a:off x="5823024" y="6763864"/>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9" id="9"/>
          <p:cNvSpPr txBox="true"/>
          <p:nvPr/>
        </p:nvSpPr>
        <p:spPr>
          <a:xfrm rot="0">
            <a:off x="1028954" y="8198998"/>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Appreciating diversity</a:t>
            </a:r>
          </a:p>
        </p:txBody>
      </p:sp>
      <p:sp>
        <p:nvSpPr>
          <p:cNvPr name="TextBox 10" id="10"/>
          <p:cNvSpPr txBox="true"/>
          <p:nvPr/>
        </p:nvSpPr>
        <p:spPr>
          <a:xfrm rot="0">
            <a:off x="1028954" y="8573013"/>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Freeform 11" id="11"/>
          <p:cNvSpPr/>
          <p:nvPr/>
        </p:nvSpPr>
        <p:spPr>
          <a:xfrm flipH="false" flipV="false" rot="0">
            <a:off x="2291678" y="1352306"/>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8948336" y="8821778"/>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592901" y="3118336"/>
            <a:ext cx="8606809" cy="7348207"/>
          </a:xfrm>
          <a:custGeom>
            <a:avLst/>
            <a:gdLst/>
            <a:ahLst/>
            <a:cxnLst/>
            <a:rect r="r" b="b" t="t" l="l"/>
            <a:pathLst>
              <a:path h="7348207" w="8606809">
                <a:moveTo>
                  <a:pt x="0" y="0"/>
                </a:moveTo>
                <a:lnTo>
                  <a:pt x="8606809" y="0"/>
                </a:lnTo>
                <a:lnTo>
                  <a:pt x="8606809" y="7348207"/>
                </a:lnTo>
                <a:lnTo>
                  <a:pt x="0" y="73482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205399" y="1609868"/>
            <a:ext cx="9395056" cy="2487800"/>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Relatio</a:t>
            </a:r>
            <a:r>
              <a:rPr lang="en-US" sz="10710">
                <a:solidFill>
                  <a:srgbClr val="525252"/>
                </a:solidFill>
                <a:latin typeface="Lazydog"/>
                <a:ea typeface="Lazydog"/>
                <a:cs typeface="Lazydog"/>
                <a:sym typeface="Lazydog"/>
              </a:rPr>
              <a:t>nship Skills</a:t>
            </a:r>
          </a:p>
        </p:txBody>
      </p:sp>
      <p:sp>
        <p:nvSpPr>
          <p:cNvPr name="TextBox 4" id="4"/>
          <p:cNvSpPr txBox="true"/>
          <p:nvPr/>
        </p:nvSpPr>
        <p:spPr>
          <a:xfrm rot="0">
            <a:off x="8205399" y="6091521"/>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Communicating clearly</a:t>
            </a:r>
          </a:p>
        </p:txBody>
      </p:sp>
      <p:sp>
        <p:nvSpPr>
          <p:cNvPr name="TextBox 5" id="5"/>
          <p:cNvSpPr txBox="true"/>
          <p:nvPr/>
        </p:nvSpPr>
        <p:spPr>
          <a:xfrm rot="0">
            <a:off x="8205399" y="6465536"/>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6" id="6"/>
          <p:cNvSpPr txBox="true"/>
          <p:nvPr/>
        </p:nvSpPr>
        <p:spPr>
          <a:xfrm rot="0">
            <a:off x="12999469" y="6091521"/>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Working well with others</a:t>
            </a:r>
          </a:p>
        </p:txBody>
      </p:sp>
      <p:sp>
        <p:nvSpPr>
          <p:cNvPr name="TextBox 7" id="7"/>
          <p:cNvSpPr txBox="true"/>
          <p:nvPr/>
        </p:nvSpPr>
        <p:spPr>
          <a:xfrm rot="0">
            <a:off x="12999469" y="6465536"/>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8" id="8"/>
          <p:cNvSpPr txBox="true"/>
          <p:nvPr/>
        </p:nvSpPr>
        <p:spPr>
          <a:xfrm rot="0">
            <a:off x="8205399" y="7900670"/>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Resolving conflicts peacefully</a:t>
            </a:r>
          </a:p>
        </p:txBody>
      </p:sp>
      <p:sp>
        <p:nvSpPr>
          <p:cNvPr name="TextBox 9" id="9"/>
          <p:cNvSpPr txBox="true"/>
          <p:nvPr/>
        </p:nvSpPr>
        <p:spPr>
          <a:xfrm rot="0">
            <a:off x="8205399" y="8274685"/>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10" id="10"/>
          <p:cNvSpPr txBox="true"/>
          <p:nvPr/>
        </p:nvSpPr>
        <p:spPr>
          <a:xfrm rot="0">
            <a:off x="8205399" y="4164931"/>
            <a:ext cx="8923793" cy="14789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11" id="11"/>
          <p:cNvSpPr/>
          <p:nvPr/>
        </p:nvSpPr>
        <p:spPr>
          <a:xfrm flipH="false" flipV="false" rot="0">
            <a:off x="3343079" y="1286018"/>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5272726" y="8711683"/>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67476" y="3182888"/>
            <a:ext cx="6406617" cy="7104112"/>
          </a:xfrm>
          <a:custGeom>
            <a:avLst/>
            <a:gdLst/>
            <a:ahLst/>
            <a:cxnLst/>
            <a:rect r="r" b="b" t="t" l="l"/>
            <a:pathLst>
              <a:path h="7104112" w="6406617">
                <a:moveTo>
                  <a:pt x="0" y="0"/>
                </a:moveTo>
                <a:lnTo>
                  <a:pt x="6406617" y="0"/>
                </a:lnTo>
                <a:lnTo>
                  <a:pt x="6406617" y="7104112"/>
                </a:lnTo>
                <a:lnTo>
                  <a:pt x="0" y="71041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205399" y="2580511"/>
            <a:ext cx="8789219" cy="3675988"/>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Respo</a:t>
            </a:r>
            <a:r>
              <a:rPr lang="en-US" sz="10710">
                <a:solidFill>
                  <a:srgbClr val="525252"/>
                </a:solidFill>
                <a:latin typeface="Lazydog"/>
                <a:ea typeface="Lazydog"/>
                <a:cs typeface="Lazydog"/>
                <a:sym typeface="Lazydog"/>
              </a:rPr>
              <a:t>nsible Decision-Making</a:t>
            </a:r>
          </a:p>
        </p:txBody>
      </p:sp>
      <p:sp>
        <p:nvSpPr>
          <p:cNvPr name="TextBox 4" id="4"/>
          <p:cNvSpPr txBox="true"/>
          <p:nvPr/>
        </p:nvSpPr>
        <p:spPr>
          <a:xfrm rot="0">
            <a:off x="8205399" y="6659880"/>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01</a:t>
            </a:r>
          </a:p>
        </p:txBody>
      </p:sp>
      <p:sp>
        <p:nvSpPr>
          <p:cNvPr name="TextBox 5" id="5"/>
          <p:cNvSpPr txBox="true"/>
          <p:nvPr/>
        </p:nvSpPr>
        <p:spPr>
          <a:xfrm rot="0">
            <a:off x="8205399" y="7033895"/>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6" id="6"/>
          <p:cNvSpPr txBox="true"/>
          <p:nvPr/>
        </p:nvSpPr>
        <p:spPr>
          <a:xfrm rot="0">
            <a:off x="12999469" y="6659880"/>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02</a:t>
            </a:r>
          </a:p>
        </p:txBody>
      </p:sp>
      <p:sp>
        <p:nvSpPr>
          <p:cNvPr name="TextBox 7" id="7"/>
          <p:cNvSpPr txBox="true"/>
          <p:nvPr/>
        </p:nvSpPr>
        <p:spPr>
          <a:xfrm rot="0">
            <a:off x="12999469" y="7033895"/>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8" id="8"/>
          <p:cNvSpPr txBox="true"/>
          <p:nvPr/>
        </p:nvSpPr>
        <p:spPr>
          <a:xfrm rot="0">
            <a:off x="8205399" y="8522335"/>
            <a:ext cx="4235121" cy="73596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Making thoughtful choices</a:t>
            </a:r>
          </a:p>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Considering consequences</a:t>
            </a:r>
          </a:p>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Acting ethically and responsibly</a:t>
            </a:r>
          </a:p>
        </p:txBody>
      </p:sp>
      <p:sp>
        <p:nvSpPr>
          <p:cNvPr name="TextBox 9" id="9"/>
          <p:cNvSpPr txBox="true"/>
          <p:nvPr/>
        </p:nvSpPr>
        <p:spPr>
          <a:xfrm rot="0">
            <a:off x="1028700" y="1000125"/>
            <a:ext cx="3242084" cy="17265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 quis nostrud exercitation ullamco laboris</a:t>
            </a:r>
          </a:p>
        </p:txBody>
      </p:sp>
      <p:sp>
        <p:nvSpPr>
          <p:cNvPr name="Freeform 10" id="10"/>
          <p:cNvSpPr/>
          <p:nvPr/>
        </p:nvSpPr>
        <p:spPr>
          <a:xfrm flipH="false" flipV="false" rot="0">
            <a:off x="7747875" y="1252491"/>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5906135" y="8827135"/>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114163" y="2079298"/>
            <a:ext cx="9264153" cy="8320893"/>
          </a:xfrm>
          <a:custGeom>
            <a:avLst/>
            <a:gdLst/>
            <a:ahLst/>
            <a:cxnLst/>
            <a:rect r="r" b="b" t="t" l="l"/>
            <a:pathLst>
              <a:path h="8320893" w="9264153">
                <a:moveTo>
                  <a:pt x="0" y="0"/>
                </a:moveTo>
                <a:lnTo>
                  <a:pt x="9264153" y="0"/>
                </a:lnTo>
                <a:lnTo>
                  <a:pt x="9264153" y="8320893"/>
                </a:lnTo>
                <a:lnTo>
                  <a:pt x="0" y="83208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782565" y="1711873"/>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82276" y="9258300"/>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8848285" y="3251992"/>
            <a:ext cx="8789219" cy="1299612"/>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Co</a:t>
            </a:r>
            <a:r>
              <a:rPr lang="en-US" sz="10710">
                <a:solidFill>
                  <a:srgbClr val="525252"/>
                </a:solidFill>
                <a:latin typeface="Lazydog"/>
                <a:ea typeface="Lazydog"/>
                <a:cs typeface="Lazydog"/>
                <a:sym typeface="Lazydog"/>
              </a:rPr>
              <a:t>nclusion</a:t>
            </a:r>
          </a:p>
        </p:txBody>
      </p:sp>
      <p:sp>
        <p:nvSpPr>
          <p:cNvPr name="TextBox 6" id="6"/>
          <p:cNvSpPr txBox="true"/>
          <p:nvPr/>
        </p:nvSpPr>
        <p:spPr>
          <a:xfrm rot="0">
            <a:off x="8848285" y="4760830"/>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7" id="7"/>
          <p:cNvSpPr txBox="true"/>
          <p:nvPr/>
        </p:nvSpPr>
        <p:spPr>
          <a:xfrm rot="0">
            <a:off x="13642355" y="4760830"/>
            <a:ext cx="3074770" cy="14789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8" id="8"/>
          <p:cNvSpPr txBox="true"/>
          <p:nvPr/>
        </p:nvSpPr>
        <p:spPr>
          <a:xfrm rot="0">
            <a:off x="13642355" y="6535019"/>
            <a:ext cx="3074770" cy="14789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9" id="9"/>
          <p:cNvSpPr txBox="true"/>
          <p:nvPr/>
        </p:nvSpPr>
        <p:spPr>
          <a:xfrm rot="0">
            <a:off x="8711965" y="6287369"/>
            <a:ext cx="3242084" cy="172656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SEL helps build strong character</a:t>
            </a:r>
          </a:p>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Emotional skills are life skills</a:t>
            </a:r>
          </a:p>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Learning SEL creates a healthier and more supportive community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399928" y="1385997"/>
            <a:ext cx="6853637" cy="4849650"/>
          </a:xfrm>
          <a:custGeom>
            <a:avLst/>
            <a:gdLst/>
            <a:ahLst/>
            <a:cxnLst/>
            <a:rect r="r" b="b" t="t" l="l"/>
            <a:pathLst>
              <a:path h="4849650" w="6853637">
                <a:moveTo>
                  <a:pt x="0" y="0"/>
                </a:moveTo>
                <a:lnTo>
                  <a:pt x="6853637" y="0"/>
                </a:lnTo>
                <a:lnTo>
                  <a:pt x="6853637" y="4849650"/>
                </a:lnTo>
                <a:lnTo>
                  <a:pt x="0" y="48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892751"/>
            <a:ext cx="8712441" cy="3215571"/>
          </a:xfrm>
          <a:prstGeom prst="rect">
            <a:avLst/>
          </a:prstGeom>
        </p:spPr>
        <p:txBody>
          <a:bodyPr anchor="t" rtlCol="false" tIns="0" lIns="0" bIns="0" rIns="0">
            <a:spAutoFit/>
          </a:bodyPr>
          <a:lstStyle/>
          <a:p>
            <a:pPr algn="l">
              <a:lnSpc>
                <a:spcPts val="8205"/>
              </a:lnSpc>
            </a:pPr>
            <a:r>
              <a:rPr lang="en-US" sz="9324">
                <a:solidFill>
                  <a:srgbClr val="525252"/>
                </a:solidFill>
                <a:latin typeface="Lazydog"/>
                <a:ea typeface="Lazydog"/>
                <a:cs typeface="Lazydog"/>
                <a:sym typeface="Lazydog"/>
              </a:rPr>
              <a:t>What Is </a:t>
            </a:r>
            <a:r>
              <a:rPr lang="en-US" sz="9324">
                <a:solidFill>
                  <a:srgbClr val="525252"/>
                </a:solidFill>
                <a:latin typeface="Lazydog"/>
                <a:ea typeface="Lazydog"/>
                <a:cs typeface="Lazydog"/>
                <a:sym typeface="Lazydog"/>
              </a:rPr>
              <a:t>Social Emotional Learning?</a:t>
            </a:r>
          </a:p>
        </p:txBody>
      </p:sp>
      <p:sp>
        <p:nvSpPr>
          <p:cNvPr name="TextBox 4" id="4"/>
          <p:cNvSpPr txBox="true"/>
          <p:nvPr/>
        </p:nvSpPr>
        <p:spPr>
          <a:xfrm rot="0">
            <a:off x="1028700" y="7387264"/>
            <a:ext cx="3446165" cy="7359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Social Emotional Learning (SEL) is the process of developing emotional and social skills</a:t>
            </a:r>
          </a:p>
        </p:txBody>
      </p:sp>
      <p:sp>
        <p:nvSpPr>
          <p:cNvPr name="TextBox 5" id="5"/>
          <p:cNvSpPr txBox="true"/>
          <p:nvPr/>
        </p:nvSpPr>
        <p:spPr>
          <a:xfrm rot="0">
            <a:off x="1028700"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6" id="6"/>
          <p:cNvSpPr txBox="true"/>
          <p:nvPr/>
        </p:nvSpPr>
        <p:spPr>
          <a:xfrm rot="0">
            <a:off x="6092832" y="7387264"/>
            <a:ext cx="2158076" cy="7359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It helps individuals understand and manage emotions</a:t>
            </a:r>
          </a:p>
        </p:txBody>
      </p:sp>
      <p:sp>
        <p:nvSpPr>
          <p:cNvPr name="TextBox 7" id="7"/>
          <p:cNvSpPr txBox="true"/>
          <p:nvPr/>
        </p:nvSpPr>
        <p:spPr>
          <a:xfrm rot="0">
            <a:off x="6092832"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8" id="8"/>
          <p:cNvSpPr txBox="true"/>
          <p:nvPr/>
        </p:nvSpPr>
        <p:spPr>
          <a:xfrm rot="0">
            <a:off x="11156963" y="7387264"/>
            <a:ext cx="2669783" cy="7359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SEL supports healthy relationships and decision-making</a:t>
            </a:r>
          </a:p>
        </p:txBody>
      </p:sp>
      <p:sp>
        <p:nvSpPr>
          <p:cNvPr name="TextBox 9" id="9"/>
          <p:cNvSpPr txBox="true"/>
          <p:nvPr/>
        </p:nvSpPr>
        <p:spPr>
          <a:xfrm rot="0">
            <a:off x="11156963"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Freeform 10" id="10"/>
          <p:cNvSpPr/>
          <p:nvPr/>
        </p:nvSpPr>
        <p:spPr>
          <a:xfrm flipH="false" flipV="false" rot="0">
            <a:off x="1783922" y="1385997"/>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524450" y="7388379"/>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285734" y="2850412"/>
            <a:ext cx="8002266" cy="7436588"/>
          </a:xfrm>
          <a:custGeom>
            <a:avLst/>
            <a:gdLst/>
            <a:ahLst/>
            <a:cxnLst/>
            <a:rect r="r" b="b" t="t" l="l"/>
            <a:pathLst>
              <a:path h="7436588" w="8002266">
                <a:moveTo>
                  <a:pt x="0" y="0"/>
                </a:moveTo>
                <a:lnTo>
                  <a:pt x="8002266" y="0"/>
                </a:lnTo>
                <a:lnTo>
                  <a:pt x="8002266" y="7436588"/>
                </a:lnTo>
                <a:lnTo>
                  <a:pt x="0" y="7436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769236"/>
            <a:ext cx="8712441" cy="2181131"/>
          </a:xfrm>
          <a:prstGeom prst="rect">
            <a:avLst/>
          </a:prstGeom>
        </p:spPr>
        <p:txBody>
          <a:bodyPr anchor="t" rtlCol="false" tIns="0" lIns="0" bIns="0" rIns="0">
            <a:spAutoFit/>
          </a:bodyPr>
          <a:lstStyle/>
          <a:p>
            <a:pPr algn="l">
              <a:lnSpc>
                <a:spcPts val="8205"/>
              </a:lnSpc>
            </a:pPr>
            <a:r>
              <a:rPr lang="en-US" sz="9324">
                <a:solidFill>
                  <a:srgbClr val="525252"/>
                </a:solidFill>
                <a:latin typeface="Lazydog"/>
                <a:ea typeface="Lazydog"/>
                <a:cs typeface="Lazydog"/>
                <a:sym typeface="Lazydog"/>
              </a:rPr>
              <a:t>Why SEL Is I</a:t>
            </a:r>
            <a:r>
              <a:rPr lang="en-US" sz="9324">
                <a:solidFill>
                  <a:srgbClr val="525252"/>
                </a:solidFill>
                <a:latin typeface="Lazydog"/>
                <a:ea typeface="Lazydog"/>
                <a:cs typeface="Lazydog"/>
                <a:sym typeface="Lazydog"/>
              </a:rPr>
              <a:t>mportant</a:t>
            </a:r>
          </a:p>
        </p:txBody>
      </p:sp>
      <p:sp>
        <p:nvSpPr>
          <p:cNvPr name="TextBox 4" id="4"/>
          <p:cNvSpPr txBox="true"/>
          <p:nvPr/>
        </p:nvSpPr>
        <p:spPr>
          <a:xfrm rot="0">
            <a:off x="1028700" y="8274685"/>
            <a:ext cx="4568832" cy="98361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Improves emotional awareness</a:t>
            </a:r>
          </a:p>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Builds positive relationships</a:t>
            </a:r>
          </a:p>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Enhances academic and life success</a:t>
            </a:r>
          </a:p>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Supports mental well-being</a:t>
            </a:r>
          </a:p>
        </p:txBody>
      </p:sp>
      <p:sp>
        <p:nvSpPr>
          <p:cNvPr name="TextBox 5" id="5"/>
          <p:cNvSpPr txBox="true"/>
          <p:nvPr/>
        </p:nvSpPr>
        <p:spPr>
          <a:xfrm rot="0">
            <a:off x="5722285"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6" id="6"/>
          <p:cNvSpPr txBox="true"/>
          <p:nvPr/>
        </p:nvSpPr>
        <p:spPr>
          <a:xfrm rot="0">
            <a:off x="1028700" y="6081530"/>
            <a:ext cx="7317977" cy="17265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7" id="7"/>
          <p:cNvSpPr/>
          <p:nvPr/>
        </p:nvSpPr>
        <p:spPr>
          <a:xfrm flipH="false" flipV="false" rot="0">
            <a:off x="1659153" y="1028700"/>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373716" y="5143500"/>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9379097" y="3484791"/>
            <a:ext cx="7736841" cy="7525836"/>
          </a:xfrm>
          <a:custGeom>
            <a:avLst/>
            <a:gdLst/>
            <a:ahLst/>
            <a:cxnLst/>
            <a:rect r="r" b="b" t="t" l="l"/>
            <a:pathLst>
              <a:path h="7525836" w="7736841">
                <a:moveTo>
                  <a:pt x="0" y="0"/>
                </a:moveTo>
                <a:lnTo>
                  <a:pt x="7736841" y="0"/>
                </a:lnTo>
                <a:lnTo>
                  <a:pt x="7736841" y="7525837"/>
                </a:lnTo>
                <a:lnTo>
                  <a:pt x="0" y="75258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954" y="6770500"/>
            <a:ext cx="7456389" cy="2487800"/>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Self-Aw</a:t>
            </a:r>
            <a:r>
              <a:rPr lang="en-US" sz="10710">
                <a:solidFill>
                  <a:srgbClr val="525252"/>
                </a:solidFill>
                <a:latin typeface="Lazydog"/>
                <a:ea typeface="Lazydog"/>
                <a:cs typeface="Lazydog"/>
                <a:sym typeface="Lazydog"/>
              </a:rPr>
              <a:t>areness</a:t>
            </a:r>
          </a:p>
        </p:txBody>
      </p:sp>
      <p:sp>
        <p:nvSpPr>
          <p:cNvPr name="TextBox 4" id="4"/>
          <p:cNvSpPr txBox="true"/>
          <p:nvPr/>
        </p:nvSpPr>
        <p:spPr>
          <a:xfrm rot="0">
            <a:off x="1028954" y="1000125"/>
            <a:ext cx="4568832" cy="240665"/>
          </a:xfrm>
          <a:prstGeom prst="rect">
            <a:avLst/>
          </a:prstGeom>
        </p:spPr>
        <p:txBody>
          <a:bodyPr anchor="t" rtlCol="false" tIns="0" lIns="0" bIns="0" rIns="0">
            <a:spAutoFit/>
          </a:bodyPr>
          <a:lstStyle/>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Rec</a:t>
            </a:r>
            <a:r>
              <a:rPr lang="en-US" sz="1400">
                <a:solidFill>
                  <a:srgbClr val="525252"/>
                </a:solidFill>
                <a:latin typeface="IreneFlorentina"/>
                <a:ea typeface="IreneFlorentina"/>
                <a:cs typeface="IreneFlorentina"/>
                <a:sym typeface="IreneFlorentina"/>
              </a:rPr>
              <a:t>ognizing emotions and thoughts</a:t>
            </a:r>
          </a:p>
        </p:txBody>
      </p:sp>
      <p:sp>
        <p:nvSpPr>
          <p:cNvPr name="TextBox 5" id="5"/>
          <p:cNvSpPr txBox="true"/>
          <p:nvPr/>
        </p:nvSpPr>
        <p:spPr>
          <a:xfrm rot="0">
            <a:off x="1028700" y="1374140"/>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6" id="6"/>
          <p:cNvSpPr txBox="true"/>
          <p:nvPr/>
        </p:nvSpPr>
        <p:spPr>
          <a:xfrm rot="0">
            <a:off x="12690468" y="1000125"/>
            <a:ext cx="4568832" cy="240665"/>
          </a:xfrm>
          <a:prstGeom prst="rect">
            <a:avLst/>
          </a:prstGeom>
        </p:spPr>
        <p:txBody>
          <a:bodyPr anchor="t" rtlCol="false" tIns="0" lIns="0" bIns="0" rIns="0">
            <a:spAutoFit/>
          </a:bodyPr>
          <a:lstStyle/>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Bu</a:t>
            </a:r>
            <a:r>
              <a:rPr lang="en-US" sz="1400">
                <a:solidFill>
                  <a:srgbClr val="525252"/>
                </a:solidFill>
                <a:latin typeface="IreneFlorentina"/>
                <a:ea typeface="IreneFlorentina"/>
                <a:cs typeface="IreneFlorentina"/>
                <a:sym typeface="IreneFlorentina"/>
              </a:rPr>
              <a:t>ilding confidence and self-esteem</a:t>
            </a:r>
          </a:p>
        </p:txBody>
      </p:sp>
      <p:sp>
        <p:nvSpPr>
          <p:cNvPr name="TextBox 7" id="7"/>
          <p:cNvSpPr txBox="true"/>
          <p:nvPr/>
        </p:nvSpPr>
        <p:spPr>
          <a:xfrm rot="0">
            <a:off x="12690215" y="1374140"/>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8" id="8"/>
          <p:cNvSpPr txBox="true"/>
          <p:nvPr/>
        </p:nvSpPr>
        <p:spPr>
          <a:xfrm rot="0">
            <a:off x="6201053" y="1000125"/>
            <a:ext cx="5886147" cy="240665"/>
          </a:xfrm>
          <a:prstGeom prst="rect">
            <a:avLst/>
          </a:prstGeom>
        </p:spPr>
        <p:txBody>
          <a:bodyPr anchor="t" rtlCol="false" tIns="0" lIns="0" bIns="0" rIns="0">
            <a:spAutoFit/>
          </a:bodyPr>
          <a:lstStyle/>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Understa</a:t>
            </a:r>
            <a:r>
              <a:rPr lang="en-US" sz="1400">
                <a:solidFill>
                  <a:srgbClr val="525252"/>
                </a:solidFill>
                <a:latin typeface="IreneFlorentina"/>
                <a:ea typeface="IreneFlorentina"/>
                <a:cs typeface="IreneFlorentina"/>
                <a:sym typeface="IreneFlorentina"/>
              </a:rPr>
              <a:t>nding personal strengths and weaknesses</a:t>
            </a:r>
          </a:p>
        </p:txBody>
      </p:sp>
      <p:sp>
        <p:nvSpPr>
          <p:cNvPr name="TextBox 9" id="9"/>
          <p:cNvSpPr txBox="true"/>
          <p:nvPr/>
        </p:nvSpPr>
        <p:spPr>
          <a:xfrm rot="0">
            <a:off x="6200800" y="1374140"/>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Freeform 10" id="10"/>
          <p:cNvSpPr/>
          <p:nvPr/>
        </p:nvSpPr>
        <p:spPr>
          <a:xfrm flipH="false" flipV="false" rot="0">
            <a:off x="3313243" y="3747869"/>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891875" y="8523450"/>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058145" y="1028700"/>
            <a:ext cx="7201155" cy="8217086"/>
          </a:xfrm>
          <a:custGeom>
            <a:avLst/>
            <a:gdLst/>
            <a:ahLst/>
            <a:cxnLst/>
            <a:rect r="r" b="b" t="t" l="l"/>
            <a:pathLst>
              <a:path h="8217086" w="7201155">
                <a:moveTo>
                  <a:pt x="0" y="0"/>
                </a:moveTo>
                <a:lnTo>
                  <a:pt x="7201155" y="0"/>
                </a:lnTo>
                <a:lnTo>
                  <a:pt x="7201155" y="8217086"/>
                </a:lnTo>
                <a:lnTo>
                  <a:pt x="0" y="8217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954" y="3769823"/>
            <a:ext cx="9029191" cy="2487800"/>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Self-Man</a:t>
            </a:r>
            <a:r>
              <a:rPr lang="en-US" sz="10710">
                <a:solidFill>
                  <a:srgbClr val="525252"/>
                </a:solidFill>
                <a:latin typeface="Lazydog"/>
                <a:ea typeface="Lazydog"/>
                <a:cs typeface="Lazydog"/>
                <a:sym typeface="Lazydog"/>
              </a:rPr>
              <a:t>agement</a:t>
            </a:r>
          </a:p>
        </p:txBody>
      </p:sp>
      <p:sp>
        <p:nvSpPr>
          <p:cNvPr name="TextBox 4" id="4"/>
          <p:cNvSpPr txBox="true"/>
          <p:nvPr/>
        </p:nvSpPr>
        <p:spPr>
          <a:xfrm rot="0">
            <a:off x="5543549" y="3738578"/>
            <a:ext cx="3492737" cy="735965"/>
          </a:xfrm>
          <a:prstGeom prst="rect">
            <a:avLst/>
          </a:prstGeom>
        </p:spPr>
        <p:txBody>
          <a:bodyPr anchor="t" rtlCol="false" tIns="0" lIns="0" bIns="0" rIns="0">
            <a:spAutoFit/>
          </a:bodyPr>
          <a:lstStyle/>
          <a:p>
            <a:pPr algn="l">
              <a:lnSpc>
                <a:spcPts val="1960"/>
              </a:lnSpc>
            </a:pPr>
            <a:r>
              <a:rPr lang="en-US" sz="1400">
                <a:solidFill>
                  <a:srgbClr val="525252"/>
                </a:solidFill>
                <a:latin typeface="IreneFlorentina"/>
                <a:ea typeface="IreneFlorentina"/>
                <a:cs typeface="IreneFlorentina"/>
                <a:sym typeface="IreneFlorentina"/>
              </a:rPr>
              <a:t>Managing emotions and stress</a:t>
            </a:r>
          </a:p>
          <a:p>
            <a:pPr algn="l">
              <a:lnSpc>
                <a:spcPts val="1960"/>
              </a:lnSpc>
            </a:pPr>
            <a:r>
              <a:rPr lang="en-US" sz="1400">
                <a:solidFill>
                  <a:srgbClr val="525252"/>
                </a:solidFill>
                <a:latin typeface="IreneFlorentina"/>
                <a:ea typeface="IreneFlorentina"/>
                <a:cs typeface="IreneFlorentina"/>
                <a:sym typeface="IreneFlorentina"/>
              </a:rPr>
              <a:t>Controlling impulses</a:t>
            </a:r>
          </a:p>
          <a:p>
            <a:pPr algn="l">
              <a:lnSpc>
                <a:spcPts val="1960"/>
              </a:lnSpc>
            </a:pPr>
            <a:r>
              <a:rPr lang="en-US" sz="1400">
                <a:solidFill>
                  <a:srgbClr val="525252"/>
                </a:solidFill>
                <a:latin typeface="IreneFlorentina"/>
                <a:ea typeface="IreneFlorentina"/>
                <a:cs typeface="IreneFlorentina"/>
                <a:sym typeface="IreneFlorentina"/>
              </a:rPr>
              <a:t>Setting and achieving goals</a:t>
            </a:r>
          </a:p>
        </p:txBody>
      </p:sp>
      <p:sp>
        <p:nvSpPr>
          <p:cNvPr name="TextBox 5" id="5"/>
          <p:cNvSpPr txBox="true"/>
          <p:nvPr/>
        </p:nvSpPr>
        <p:spPr>
          <a:xfrm rot="0">
            <a:off x="1028954" y="6389849"/>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6" id="6"/>
          <p:cNvSpPr txBox="true"/>
          <p:nvPr/>
        </p:nvSpPr>
        <p:spPr>
          <a:xfrm rot="0">
            <a:off x="1028954" y="7779385"/>
            <a:ext cx="8345128" cy="14789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7" id="7"/>
          <p:cNvSpPr/>
          <p:nvPr/>
        </p:nvSpPr>
        <p:spPr>
          <a:xfrm flipH="false" flipV="false" rot="0">
            <a:off x="2357859" y="1526983"/>
            <a:ext cx="734850" cy="734850"/>
          </a:xfrm>
          <a:custGeom>
            <a:avLst/>
            <a:gdLst/>
            <a:ahLst/>
            <a:cxnLst/>
            <a:rect r="r" b="b" t="t" l="l"/>
            <a:pathLst>
              <a:path h="734850" w="734850">
                <a:moveTo>
                  <a:pt x="0" y="0"/>
                </a:moveTo>
                <a:lnTo>
                  <a:pt x="734850" y="0"/>
                </a:lnTo>
                <a:lnTo>
                  <a:pt x="734850" y="734849"/>
                </a:lnTo>
                <a:lnTo>
                  <a:pt x="0" y="734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245923" y="8533130"/>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205031" y="2441069"/>
            <a:ext cx="10806421" cy="9072057"/>
          </a:xfrm>
          <a:custGeom>
            <a:avLst/>
            <a:gdLst/>
            <a:ahLst/>
            <a:cxnLst/>
            <a:rect r="r" b="b" t="t" l="l"/>
            <a:pathLst>
              <a:path h="9072057" w="10806421">
                <a:moveTo>
                  <a:pt x="0" y="0"/>
                </a:moveTo>
                <a:lnTo>
                  <a:pt x="10806422" y="0"/>
                </a:lnTo>
                <a:lnTo>
                  <a:pt x="10806422" y="9072057"/>
                </a:lnTo>
                <a:lnTo>
                  <a:pt x="0" y="90720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954" y="3570193"/>
            <a:ext cx="8115046" cy="2487800"/>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Social Awar</a:t>
            </a:r>
            <a:r>
              <a:rPr lang="en-US" sz="10710">
                <a:solidFill>
                  <a:srgbClr val="525252"/>
                </a:solidFill>
                <a:latin typeface="Lazydog"/>
                <a:ea typeface="Lazydog"/>
                <a:cs typeface="Lazydog"/>
                <a:sym typeface="Lazydog"/>
              </a:rPr>
              <a:t>eness</a:t>
            </a:r>
          </a:p>
        </p:txBody>
      </p:sp>
      <p:sp>
        <p:nvSpPr>
          <p:cNvPr name="TextBox 4" id="4"/>
          <p:cNvSpPr txBox="true"/>
          <p:nvPr/>
        </p:nvSpPr>
        <p:spPr>
          <a:xfrm rot="0">
            <a:off x="5823024" y="3538948"/>
            <a:ext cx="3492737" cy="735965"/>
          </a:xfrm>
          <a:prstGeom prst="rect">
            <a:avLst/>
          </a:prstGeom>
        </p:spPr>
        <p:txBody>
          <a:bodyPr anchor="t" rtlCol="false" tIns="0" lIns="0" bIns="0" rIns="0">
            <a:spAutoFit/>
          </a:bodyPr>
          <a:lstStyle/>
          <a:p>
            <a:pPr algn="l">
              <a:lnSpc>
                <a:spcPts val="1960"/>
              </a:lnSpc>
            </a:pPr>
            <a:r>
              <a:rPr lang="en-US" sz="1400">
                <a:solidFill>
                  <a:srgbClr val="525252"/>
                </a:solidFill>
                <a:latin typeface="IreneFlorentina"/>
                <a:ea typeface="IreneFlorentina"/>
                <a:cs typeface="IreneFlorentina"/>
                <a:sym typeface="IreneFlorentina"/>
              </a:rPr>
              <a:t>Managing emotions and stress</a:t>
            </a:r>
          </a:p>
          <a:p>
            <a:pPr algn="l">
              <a:lnSpc>
                <a:spcPts val="1960"/>
              </a:lnSpc>
            </a:pPr>
            <a:r>
              <a:rPr lang="en-US" sz="1400">
                <a:solidFill>
                  <a:srgbClr val="525252"/>
                </a:solidFill>
                <a:latin typeface="IreneFlorentina"/>
                <a:ea typeface="IreneFlorentina"/>
                <a:cs typeface="IreneFlorentina"/>
                <a:sym typeface="IreneFlorentina"/>
              </a:rPr>
              <a:t>Controlling impulses</a:t>
            </a:r>
          </a:p>
          <a:p>
            <a:pPr algn="l">
              <a:lnSpc>
                <a:spcPts val="1960"/>
              </a:lnSpc>
            </a:pPr>
            <a:r>
              <a:rPr lang="en-US" sz="1400">
                <a:solidFill>
                  <a:srgbClr val="525252"/>
                </a:solidFill>
                <a:latin typeface="IreneFlorentina"/>
                <a:ea typeface="IreneFlorentina"/>
                <a:cs typeface="IreneFlorentina"/>
                <a:sym typeface="IreneFlorentina"/>
              </a:rPr>
              <a:t>Setting and achieving goals</a:t>
            </a:r>
          </a:p>
        </p:txBody>
      </p:sp>
      <p:sp>
        <p:nvSpPr>
          <p:cNvPr name="TextBox 5" id="5"/>
          <p:cNvSpPr txBox="true"/>
          <p:nvPr/>
        </p:nvSpPr>
        <p:spPr>
          <a:xfrm rot="0">
            <a:off x="1028954" y="6389849"/>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Understanding others’ feelings</a:t>
            </a:r>
          </a:p>
        </p:txBody>
      </p:sp>
      <p:sp>
        <p:nvSpPr>
          <p:cNvPr name="TextBox 6" id="6"/>
          <p:cNvSpPr txBox="true"/>
          <p:nvPr/>
        </p:nvSpPr>
        <p:spPr>
          <a:xfrm rot="0">
            <a:off x="1028954" y="6763864"/>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7" id="7"/>
          <p:cNvSpPr txBox="true"/>
          <p:nvPr/>
        </p:nvSpPr>
        <p:spPr>
          <a:xfrm rot="0">
            <a:off x="5823024" y="6389849"/>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Showing empathy and respect</a:t>
            </a:r>
          </a:p>
        </p:txBody>
      </p:sp>
      <p:sp>
        <p:nvSpPr>
          <p:cNvPr name="TextBox 8" id="8"/>
          <p:cNvSpPr txBox="true"/>
          <p:nvPr/>
        </p:nvSpPr>
        <p:spPr>
          <a:xfrm rot="0">
            <a:off x="5823024" y="6763864"/>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9" id="9"/>
          <p:cNvSpPr txBox="true"/>
          <p:nvPr/>
        </p:nvSpPr>
        <p:spPr>
          <a:xfrm rot="0">
            <a:off x="1028954" y="8198998"/>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Appreciating diversity</a:t>
            </a:r>
          </a:p>
        </p:txBody>
      </p:sp>
      <p:sp>
        <p:nvSpPr>
          <p:cNvPr name="TextBox 10" id="10"/>
          <p:cNvSpPr txBox="true"/>
          <p:nvPr/>
        </p:nvSpPr>
        <p:spPr>
          <a:xfrm rot="0">
            <a:off x="1028954" y="8573013"/>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Freeform 11" id="11"/>
          <p:cNvSpPr/>
          <p:nvPr/>
        </p:nvSpPr>
        <p:spPr>
          <a:xfrm flipH="false" flipV="false" rot="0">
            <a:off x="2291678" y="1352306"/>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8948336" y="8821778"/>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592901" y="3118336"/>
            <a:ext cx="8606809" cy="7348207"/>
          </a:xfrm>
          <a:custGeom>
            <a:avLst/>
            <a:gdLst/>
            <a:ahLst/>
            <a:cxnLst/>
            <a:rect r="r" b="b" t="t" l="l"/>
            <a:pathLst>
              <a:path h="7348207" w="8606809">
                <a:moveTo>
                  <a:pt x="0" y="0"/>
                </a:moveTo>
                <a:lnTo>
                  <a:pt x="8606809" y="0"/>
                </a:lnTo>
                <a:lnTo>
                  <a:pt x="8606809" y="7348207"/>
                </a:lnTo>
                <a:lnTo>
                  <a:pt x="0" y="73482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205399" y="1609868"/>
            <a:ext cx="9395056" cy="2487800"/>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Relatio</a:t>
            </a:r>
            <a:r>
              <a:rPr lang="en-US" sz="10710">
                <a:solidFill>
                  <a:srgbClr val="525252"/>
                </a:solidFill>
                <a:latin typeface="Lazydog"/>
                <a:ea typeface="Lazydog"/>
                <a:cs typeface="Lazydog"/>
                <a:sym typeface="Lazydog"/>
              </a:rPr>
              <a:t>nship Skills</a:t>
            </a:r>
          </a:p>
        </p:txBody>
      </p:sp>
      <p:sp>
        <p:nvSpPr>
          <p:cNvPr name="TextBox 4" id="4"/>
          <p:cNvSpPr txBox="true"/>
          <p:nvPr/>
        </p:nvSpPr>
        <p:spPr>
          <a:xfrm rot="0">
            <a:off x="8205399" y="6091521"/>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Communicating clearly</a:t>
            </a:r>
          </a:p>
        </p:txBody>
      </p:sp>
      <p:sp>
        <p:nvSpPr>
          <p:cNvPr name="TextBox 5" id="5"/>
          <p:cNvSpPr txBox="true"/>
          <p:nvPr/>
        </p:nvSpPr>
        <p:spPr>
          <a:xfrm rot="0">
            <a:off x="8205399" y="6465536"/>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6" id="6"/>
          <p:cNvSpPr txBox="true"/>
          <p:nvPr/>
        </p:nvSpPr>
        <p:spPr>
          <a:xfrm rot="0">
            <a:off x="12999469" y="6091521"/>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Working well with others</a:t>
            </a:r>
          </a:p>
        </p:txBody>
      </p:sp>
      <p:sp>
        <p:nvSpPr>
          <p:cNvPr name="TextBox 7" id="7"/>
          <p:cNvSpPr txBox="true"/>
          <p:nvPr/>
        </p:nvSpPr>
        <p:spPr>
          <a:xfrm rot="0">
            <a:off x="12999469" y="6465536"/>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8" id="8"/>
          <p:cNvSpPr txBox="true"/>
          <p:nvPr/>
        </p:nvSpPr>
        <p:spPr>
          <a:xfrm rot="0">
            <a:off x="8205399" y="7900670"/>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Resolving conflicts peacefully</a:t>
            </a:r>
          </a:p>
        </p:txBody>
      </p:sp>
      <p:sp>
        <p:nvSpPr>
          <p:cNvPr name="TextBox 9" id="9"/>
          <p:cNvSpPr txBox="true"/>
          <p:nvPr/>
        </p:nvSpPr>
        <p:spPr>
          <a:xfrm rot="0">
            <a:off x="8205399" y="8274685"/>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10" id="10"/>
          <p:cNvSpPr txBox="true"/>
          <p:nvPr/>
        </p:nvSpPr>
        <p:spPr>
          <a:xfrm rot="0">
            <a:off x="8205399" y="4164931"/>
            <a:ext cx="8923793" cy="14789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11" id="11"/>
          <p:cNvSpPr/>
          <p:nvPr/>
        </p:nvSpPr>
        <p:spPr>
          <a:xfrm flipH="false" flipV="false" rot="0">
            <a:off x="3343079" y="1286018"/>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5272726" y="8711683"/>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67476" y="3182888"/>
            <a:ext cx="6406617" cy="7104112"/>
          </a:xfrm>
          <a:custGeom>
            <a:avLst/>
            <a:gdLst/>
            <a:ahLst/>
            <a:cxnLst/>
            <a:rect r="r" b="b" t="t" l="l"/>
            <a:pathLst>
              <a:path h="7104112" w="6406617">
                <a:moveTo>
                  <a:pt x="0" y="0"/>
                </a:moveTo>
                <a:lnTo>
                  <a:pt x="6406617" y="0"/>
                </a:lnTo>
                <a:lnTo>
                  <a:pt x="6406617" y="7104112"/>
                </a:lnTo>
                <a:lnTo>
                  <a:pt x="0" y="71041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205399" y="2580511"/>
            <a:ext cx="8789219" cy="3675988"/>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Respo</a:t>
            </a:r>
            <a:r>
              <a:rPr lang="en-US" sz="10710">
                <a:solidFill>
                  <a:srgbClr val="525252"/>
                </a:solidFill>
                <a:latin typeface="Lazydog"/>
                <a:ea typeface="Lazydog"/>
                <a:cs typeface="Lazydog"/>
                <a:sym typeface="Lazydog"/>
              </a:rPr>
              <a:t>nsible Decision-Making</a:t>
            </a:r>
          </a:p>
        </p:txBody>
      </p:sp>
      <p:sp>
        <p:nvSpPr>
          <p:cNvPr name="TextBox 4" id="4"/>
          <p:cNvSpPr txBox="true"/>
          <p:nvPr/>
        </p:nvSpPr>
        <p:spPr>
          <a:xfrm rot="0">
            <a:off x="8205399" y="6659880"/>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01</a:t>
            </a:r>
          </a:p>
        </p:txBody>
      </p:sp>
      <p:sp>
        <p:nvSpPr>
          <p:cNvPr name="TextBox 5" id="5"/>
          <p:cNvSpPr txBox="true"/>
          <p:nvPr/>
        </p:nvSpPr>
        <p:spPr>
          <a:xfrm rot="0">
            <a:off x="8205399" y="7033895"/>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6" id="6"/>
          <p:cNvSpPr txBox="true"/>
          <p:nvPr/>
        </p:nvSpPr>
        <p:spPr>
          <a:xfrm rot="0">
            <a:off x="12999469" y="6659880"/>
            <a:ext cx="399514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02</a:t>
            </a:r>
          </a:p>
        </p:txBody>
      </p:sp>
      <p:sp>
        <p:nvSpPr>
          <p:cNvPr name="TextBox 7" id="7"/>
          <p:cNvSpPr txBox="true"/>
          <p:nvPr/>
        </p:nvSpPr>
        <p:spPr>
          <a:xfrm rot="0">
            <a:off x="12999469" y="7033895"/>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8" id="8"/>
          <p:cNvSpPr txBox="true"/>
          <p:nvPr/>
        </p:nvSpPr>
        <p:spPr>
          <a:xfrm rot="0">
            <a:off x="8205399" y="8522335"/>
            <a:ext cx="4235121" cy="73596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Making thoughtful choices</a:t>
            </a:r>
          </a:p>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Considering consequences</a:t>
            </a:r>
          </a:p>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Acting ethically and responsibly</a:t>
            </a:r>
          </a:p>
        </p:txBody>
      </p:sp>
      <p:sp>
        <p:nvSpPr>
          <p:cNvPr name="TextBox 9" id="9"/>
          <p:cNvSpPr txBox="true"/>
          <p:nvPr/>
        </p:nvSpPr>
        <p:spPr>
          <a:xfrm rot="0">
            <a:off x="1028700" y="1000125"/>
            <a:ext cx="3242084" cy="17265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 quis nostrud exercitation ullamco laboris</a:t>
            </a:r>
          </a:p>
        </p:txBody>
      </p:sp>
      <p:sp>
        <p:nvSpPr>
          <p:cNvPr name="Freeform 10" id="10"/>
          <p:cNvSpPr/>
          <p:nvPr/>
        </p:nvSpPr>
        <p:spPr>
          <a:xfrm flipH="false" flipV="false" rot="0">
            <a:off x="7747875" y="1252491"/>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5906135" y="8827135"/>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114163" y="2079298"/>
            <a:ext cx="9264153" cy="8320893"/>
          </a:xfrm>
          <a:custGeom>
            <a:avLst/>
            <a:gdLst/>
            <a:ahLst/>
            <a:cxnLst/>
            <a:rect r="r" b="b" t="t" l="l"/>
            <a:pathLst>
              <a:path h="8320893" w="9264153">
                <a:moveTo>
                  <a:pt x="0" y="0"/>
                </a:moveTo>
                <a:lnTo>
                  <a:pt x="9264153" y="0"/>
                </a:lnTo>
                <a:lnTo>
                  <a:pt x="9264153" y="8320893"/>
                </a:lnTo>
                <a:lnTo>
                  <a:pt x="0" y="83208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782565" y="1711873"/>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82276" y="9258300"/>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8848285" y="3251992"/>
            <a:ext cx="8789219" cy="1299612"/>
          </a:xfrm>
          <a:prstGeom prst="rect">
            <a:avLst/>
          </a:prstGeom>
        </p:spPr>
        <p:txBody>
          <a:bodyPr anchor="t" rtlCol="false" tIns="0" lIns="0" bIns="0" rIns="0">
            <a:spAutoFit/>
          </a:bodyPr>
          <a:lstStyle/>
          <a:p>
            <a:pPr algn="l">
              <a:lnSpc>
                <a:spcPts val="9425"/>
              </a:lnSpc>
            </a:pPr>
            <a:r>
              <a:rPr lang="en-US" sz="10710">
                <a:solidFill>
                  <a:srgbClr val="525252"/>
                </a:solidFill>
                <a:latin typeface="Lazydog"/>
                <a:ea typeface="Lazydog"/>
                <a:cs typeface="Lazydog"/>
                <a:sym typeface="Lazydog"/>
              </a:rPr>
              <a:t>Co</a:t>
            </a:r>
            <a:r>
              <a:rPr lang="en-US" sz="10710">
                <a:solidFill>
                  <a:srgbClr val="525252"/>
                </a:solidFill>
                <a:latin typeface="Lazydog"/>
                <a:ea typeface="Lazydog"/>
                <a:cs typeface="Lazydog"/>
                <a:sym typeface="Lazydog"/>
              </a:rPr>
              <a:t>nclusion</a:t>
            </a:r>
          </a:p>
        </p:txBody>
      </p:sp>
      <p:sp>
        <p:nvSpPr>
          <p:cNvPr name="TextBox 6" id="6"/>
          <p:cNvSpPr txBox="true"/>
          <p:nvPr/>
        </p:nvSpPr>
        <p:spPr>
          <a:xfrm rot="0">
            <a:off x="8848285" y="4760830"/>
            <a:ext cx="4235121"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7" id="7"/>
          <p:cNvSpPr txBox="true"/>
          <p:nvPr/>
        </p:nvSpPr>
        <p:spPr>
          <a:xfrm rot="0">
            <a:off x="13642355" y="4760830"/>
            <a:ext cx="3074770" cy="14789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8" id="8"/>
          <p:cNvSpPr txBox="true"/>
          <p:nvPr/>
        </p:nvSpPr>
        <p:spPr>
          <a:xfrm rot="0">
            <a:off x="13642355" y="6535019"/>
            <a:ext cx="3074770" cy="14789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a:t>
            </a:r>
          </a:p>
        </p:txBody>
      </p:sp>
      <p:sp>
        <p:nvSpPr>
          <p:cNvPr name="TextBox 9" id="9"/>
          <p:cNvSpPr txBox="true"/>
          <p:nvPr/>
        </p:nvSpPr>
        <p:spPr>
          <a:xfrm rot="0">
            <a:off x="8711965" y="6287369"/>
            <a:ext cx="3242084" cy="172656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SEL helps build strong character</a:t>
            </a:r>
          </a:p>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Emotional skills are life skills</a:t>
            </a:r>
          </a:p>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Learning SEL creates a healthier and more supportive community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399928" y="1385997"/>
            <a:ext cx="6853637" cy="4849650"/>
          </a:xfrm>
          <a:custGeom>
            <a:avLst/>
            <a:gdLst/>
            <a:ahLst/>
            <a:cxnLst/>
            <a:rect r="r" b="b" t="t" l="l"/>
            <a:pathLst>
              <a:path h="4849650" w="6853637">
                <a:moveTo>
                  <a:pt x="0" y="0"/>
                </a:moveTo>
                <a:lnTo>
                  <a:pt x="6853637" y="0"/>
                </a:lnTo>
                <a:lnTo>
                  <a:pt x="6853637" y="4849650"/>
                </a:lnTo>
                <a:lnTo>
                  <a:pt x="0" y="48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892751"/>
            <a:ext cx="8712441" cy="3215571"/>
          </a:xfrm>
          <a:prstGeom prst="rect">
            <a:avLst/>
          </a:prstGeom>
        </p:spPr>
        <p:txBody>
          <a:bodyPr anchor="t" rtlCol="false" tIns="0" lIns="0" bIns="0" rIns="0">
            <a:spAutoFit/>
          </a:bodyPr>
          <a:lstStyle/>
          <a:p>
            <a:pPr algn="l">
              <a:lnSpc>
                <a:spcPts val="8205"/>
              </a:lnSpc>
            </a:pPr>
            <a:r>
              <a:rPr lang="en-US" sz="9324">
                <a:solidFill>
                  <a:srgbClr val="525252"/>
                </a:solidFill>
                <a:latin typeface="Lazydog"/>
                <a:ea typeface="Lazydog"/>
                <a:cs typeface="Lazydog"/>
                <a:sym typeface="Lazydog"/>
              </a:rPr>
              <a:t>What Is </a:t>
            </a:r>
            <a:r>
              <a:rPr lang="en-US" sz="9324">
                <a:solidFill>
                  <a:srgbClr val="525252"/>
                </a:solidFill>
                <a:latin typeface="Lazydog"/>
                <a:ea typeface="Lazydog"/>
                <a:cs typeface="Lazydog"/>
                <a:sym typeface="Lazydog"/>
              </a:rPr>
              <a:t>Social Emotional Learning?</a:t>
            </a:r>
          </a:p>
        </p:txBody>
      </p:sp>
      <p:sp>
        <p:nvSpPr>
          <p:cNvPr name="TextBox 4" id="4"/>
          <p:cNvSpPr txBox="true"/>
          <p:nvPr/>
        </p:nvSpPr>
        <p:spPr>
          <a:xfrm rot="0">
            <a:off x="1028700" y="7387264"/>
            <a:ext cx="3446165" cy="7359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Social Emotional Learning (SEL) is the process of developing emotional and social skills</a:t>
            </a:r>
          </a:p>
        </p:txBody>
      </p:sp>
      <p:sp>
        <p:nvSpPr>
          <p:cNvPr name="TextBox 5" id="5"/>
          <p:cNvSpPr txBox="true"/>
          <p:nvPr/>
        </p:nvSpPr>
        <p:spPr>
          <a:xfrm rot="0">
            <a:off x="1028700"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6" id="6"/>
          <p:cNvSpPr txBox="true"/>
          <p:nvPr/>
        </p:nvSpPr>
        <p:spPr>
          <a:xfrm rot="0">
            <a:off x="6092832" y="7387264"/>
            <a:ext cx="2158076" cy="7359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It helps individuals understand and manage emotions</a:t>
            </a:r>
          </a:p>
        </p:txBody>
      </p:sp>
      <p:sp>
        <p:nvSpPr>
          <p:cNvPr name="TextBox 7" id="7"/>
          <p:cNvSpPr txBox="true"/>
          <p:nvPr/>
        </p:nvSpPr>
        <p:spPr>
          <a:xfrm rot="0">
            <a:off x="6092832"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8" id="8"/>
          <p:cNvSpPr txBox="true"/>
          <p:nvPr/>
        </p:nvSpPr>
        <p:spPr>
          <a:xfrm rot="0">
            <a:off x="11156963" y="7387264"/>
            <a:ext cx="2669783" cy="7359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SEL supports healthy relationships and decision-making</a:t>
            </a:r>
          </a:p>
        </p:txBody>
      </p:sp>
      <p:sp>
        <p:nvSpPr>
          <p:cNvPr name="TextBox 9" id="9"/>
          <p:cNvSpPr txBox="true"/>
          <p:nvPr/>
        </p:nvSpPr>
        <p:spPr>
          <a:xfrm rot="0">
            <a:off x="11156963"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Freeform 10" id="10"/>
          <p:cNvSpPr/>
          <p:nvPr/>
        </p:nvSpPr>
        <p:spPr>
          <a:xfrm flipH="false" flipV="false" rot="0">
            <a:off x="1783922" y="1385997"/>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524450" y="7388379"/>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285734" y="2850412"/>
            <a:ext cx="8002266" cy="7436588"/>
          </a:xfrm>
          <a:custGeom>
            <a:avLst/>
            <a:gdLst/>
            <a:ahLst/>
            <a:cxnLst/>
            <a:rect r="r" b="b" t="t" l="l"/>
            <a:pathLst>
              <a:path h="7436588" w="8002266">
                <a:moveTo>
                  <a:pt x="0" y="0"/>
                </a:moveTo>
                <a:lnTo>
                  <a:pt x="8002266" y="0"/>
                </a:lnTo>
                <a:lnTo>
                  <a:pt x="8002266" y="7436588"/>
                </a:lnTo>
                <a:lnTo>
                  <a:pt x="0" y="7436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769236"/>
            <a:ext cx="8712441" cy="2181131"/>
          </a:xfrm>
          <a:prstGeom prst="rect">
            <a:avLst/>
          </a:prstGeom>
        </p:spPr>
        <p:txBody>
          <a:bodyPr anchor="t" rtlCol="false" tIns="0" lIns="0" bIns="0" rIns="0">
            <a:spAutoFit/>
          </a:bodyPr>
          <a:lstStyle/>
          <a:p>
            <a:pPr algn="l">
              <a:lnSpc>
                <a:spcPts val="8205"/>
              </a:lnSpc>
            </a:pPr>
            <a:r>
              <a:rPr lang="en-US" sz="9324">
                <a:solidFill>
                  <a:srgbClr val="525252"/>
                </a:solidFill>
                <a:latin typeface="Lazydog"/>
                <a:ea typeface="Lazydog"/>
                <a:cs typeface="Lazydog"/>
                <a:sym typeface="Lazydog"/>
              </a:rPr>
              <a:t>Why SEL Is I</a:t>
            </a:r>
            <a:r>
              <a:rPr lang="en-US" sz="9324">
                <a:solidFill>
                  <a:srgbClr val="525252"/>
                </a:solidFill>
                <a:latin typeface="Lazydog"/>
                <a:ea typeface="Lazydog"/>
                <a:cs typeface="Lazydog"/>
                <a:sym typeface="Lazydog"/>
              </a:rPr>
              <a:t>mportant</a:t>
            </a:r>
          </a:p>
        </p:txBody>
      </p:sp>
      <p:sp>
        <p:nvSpPr>
          <p:cNvPr name="TextBox 4" id="4"/>
          <p:cNvSpPr txBox="true"/>
          <p:nvPr/>
        </p:nvSpPr>
        <p:spPr>
          <a:xfrm rot="0">
            <a:off x="1028700" y="8274685"/>
            <a:ext cx="4568832" cy="98361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Improves emotional awareness</a:t>
            </a:r>
          </a:p>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Builds positive relationships</a:t>
            </a:r>
          </a:p>
          <a:p>
            <a:pPr algn="l" marL="302261" indent="-151130" lvl="1">
              <a:lnSpc>
                <a:spcPts val="1960"/>
              </a:lnSpc>
              <a:buFont typeface="Arial"/>
              <a:buChar char="•"/>
            </a:pPr>
            <a:r>
              <a:rPr lang="en-US" sz="1400">
                <a:solidFill>
                  <a:srgbClr val="525252"/>
                </a:solidFill>
                <a:latin typeface="IreneFlorentina"/>
                <a:ea typeface="IreneFlorentina"/>
                <a:cs typeface="IreneFlorentina"/>
                <a:sym typeface="IreneFlorentina"/>
              </a:rPr>
              <a:t>Enhances academic and life success</a:t>
            </a:r>
          </a:p>
          <a:p>
            <a:pPr algn="l" marL="302261" indent="-151130" lvl="1">
              <a:lnSpc>
                <a:spcPts val="1960"/>
              </a:lnSpc>
              <a:spcBef>
                <a:spcPct val="0"/>
              </a:spcBef>
              <a:buFont typeface="Arial"/>
              <a:buChar char="•"/>
            </a:pPr>
            <a:r>
              <a:rPr lang="en-US" sz="1400">
                <a:solidFill>
                  <a:srgbClr val="525252"/>
                </a:solidFill>
                <a:latin typeface="IreneFlorentina"/>
                <a:ea typeface="IreneFlorentina"/>
                <a:cs typeface="IreneFlorentina"/>
                <a:sym typeface="IreneFlorentina"/>
              </a:rPr>
              <a:t>Supports mental well-being</a:t>
            </a:r>
          </a:p>
        </p:txBody>
      </p:sp>
      <p:sp>
        <p:nvSpPr>
          <p:cNvPr name="TextBox 5" id="5"/>
          <p:cNvSpPr txBox="true"/>
          <p:nvPr/>
        </p:nvSpPr>
        <p:spPr>
          <a:xfrm rot="0">
            <a:off x="5722285" y="8274685"/>
            <a:ext cx="4569085" cy="9836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a:t>
            </a:r>
          </a:p>
        </p:txBody>
      </p:sp>
      <p:sp>
        <p:nvSpPr>
          <p:cNvPr name="TextBox 6" id="6"/>
          <p:cNvSpPr txBox="true"/>
          <p:nvPr/>
        </p:nvSpPr>
        <p:spPr>
          <a:xfrm rot="0">
            <a:off x="1028700" y="6081530"/>
            <a:ext cx="7317977" cy="17265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7" id="7"/>
          <p:cNvSpPr/>
          <p:nvPr/>
        </p:nvSpPr>
        <p:spPr>
          <a:xfrm flipH="false" flipV="false" rot="0">
            <a:off x="1659153" y="1028700"/>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373716" y="5143500"/>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1148458" y="3791406"/>
            <a:ext cx="6436866" cy="6977462"/>
          </a:xfrm>
          <a:custGeom>
            <a:avLst/>
            <a:gdLst/>
            <a:ahLst/>
            <a:cxnLst/>
            <a:rect r="r" b="b" t="t" l="l"/>
            <a:pathLst>
              <a:path h="6977462" w="6436866">
                <a:moveTo>
                  <a:pt x="0" y="0"/>
                </a:moveTo>
                <a:lnTo>
                  <a:pt x="6436866" y="0"/>
                </a:lnTo>
                <a:lnTo>
                  <a:pt x="6436866" y="6977462"/>
                </a:lnTo>
                <a:lnTo>
                  <a:pt x="0" y="6977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541373"/>
            <a:ext cx="10276603" cy="1723387"/>
          </a:xfrm>
          <a:prstGeom prst="rect">
            <a:avLst/>
          </a:prstGeom>
        </p:spPr>
        <p:txBody>
          <a:bodyPr anchor="t" rtlCol="false" tIns="0" lIns="0" bIns="0" rIns="0">
            <a:spAutoFit/>
          </a:bodyPr>
          <a:lstStyle/>
          <a:p>
            <a:pPr algn="l">
              <a:lnSpc>
                <a:spcPts val="12318"/>
              </a:lnSpc>
            </a:pPr>
            <a:r>
              <a:rPr lang="en-US" sz="13998">
                <a:solidFill>
                  <a:srgbClr val="525252"/>
                </a:solidFill>
                <a:latin typeface="Lazydog"/>
                <a:ea typeface="Lazydog"/>
                <a:cs typeface="Lazydog"/>
                <a:sym typeface="Lazydog"/>
              </a:rPr>
              <a:t>Thank You</a:t>
            </a:r>
          </a:p>
        </p:txBody>
      </p:sp>
      <p:sp>
        <p:nvSpPr>
          <p:cNvPr name="TextBox 4" id="4"/>
          <p:cNvSpPr txBox="true"/>
          <p:nvPr/>
        </p:nvSpPr>
        <p:spPr>
          <a:xfrm rot="0">
            <a:off x="1028700" y="6236185"/>
            <a:ext cx="7300448" cy="7359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Lorem ipsum dolor sit amet, consectetur adipiscing elit, sed do eiusmod tempor incididunt ut labore et dolore magna aliqua. Ut enim ad minim veniam, quis nostrud exercitation ullamco laboris</a:t>
            </a:r>
          </a:p>
        </p:txBody>
      </p:sp>
      <p:sp>
        <p:nvSpPr>
          <p:cNvPr name="TextBox 5" id="5"/>
          <p:cNvSpPr txBox="true"/>
          <p:nvPr/>
        </p:nvSpPr>
        <p:spPr>
          <a:xfrm rot="0">
            <a:off x="1028700" y="9017635"/>
            <a:ext cx="4990956"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Presented By Morgan Maxwell</a:t>
            </a:r>
          </a:p>
        </p:txBody>
      </p:sp>
      <p:sp>
        <p:nvSpPr>
          <p:cNvPr name="TextBox 6" id="6"/>
          <p:cNvSpPr txBox="true"/>
          <p:nvPr/>
        </p:nvSpPr>
        <p:spPr>
          <a:xfrm rot="0">
            <a:off x="1028700" y="1004013"/>
            <a:ext cx="2626518" cy="24066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IreneFlorentina"/>
                <a:ea typeface="IreneFlorentina"/>
                <a:cs typeface="IreneFlorentina"/>
                <a:sym typeface="IreneFlorentina"/>
              </a:rPr>
              <a:t>Warner &amp; Spencer</a:t>
            </a:r>
          </a:p>
        </p:txBody>
      </p:sp>
      <p:sp>
        <p:nvSpPr>
          <p:cNvPr name="TextBox 7" id="7"/>
          <p:cNvSpPr txBox="true"/>
          <p:nvPr/>
        </p:nvSpPr>
        <p:spPr>
          <a:xfrm rot="0">
            <a:off x="7830741" y="1004013"/>
            <a:ext cx="2626518" cy="240665"/>
          </a:xfrm>
          <a:prstGeom prst="rect">
            <a:avLst/>
          </a:prstGeom>
        </p:spPr>
        <p:txBody>
          <a:bodyPr anchor="t" rtlCol="false" tIns="0" lIns="0" bIns="0" rIns="0">
            <a:spAutoFit/>
          </a:bodyPr>
          <a:lstStyle/>
          <a:p>
            <a:pPr algn="ctr">
              <a:lnSpc>
                <a:spcPts val="1960"/>
              </a:lnSpc>
              <a:spcBef>
                <a:spcPct val="0"/>
              </a:spcBef>
            </a:pPr>
            <a:r>
              <a:rPr lang="en-US" sz="1400">
                <a:solidFill>
                  <a:srgbClr val="525252"/>
                </a:solidFill>
                <a:latin typeface="IreneFlorentina"/>
                <a:ea typeface="IreneFlorentina"/>
                <a:cs typeface="IreneFlorentina"/>
                <a:sym typeface="IreneFlorentina"/>
              </a:rPr>
              <a:t>@reallygreatsite</a:t>
            </a:r>
          </a:p>
        </p:txBody>
      </p:sp>
      <p:sp>
        <p:nvSpPr>
          <p:cNvPr name="TextBox 8" id="8"/>
          <p:cNvSpPr txBox="true"/>
          <p:nvPr/>
        </p:nvSpPr>
        <p:spPr>
          <a:xfrm rot="0">
            <a:off x="14632782" y="1004013"/>
            <a:ext cx="2626518" cy="240665"/>
          </a:xfrm>
          <a:prstGeom prst="rect">
            <a:avLst/>
          </a:prstGeom>
        </p:spPr>
        <p:txBody>
          <a:bodyPr anchor="t" rtlCol="false" tIns="0" lIns="0" bIns="0" rIns="0">
            <a:spAutoFit/>
          </a:bodyPr>
          <a:lstStyle/>
          <a:p>
            <a:pPr algn="r">
              <a:lnSpc>
                <a:spcPts val="1960"/>
              </a:lnSpc>
              <a:spcBef>
                <a:spcPct val="0"/>
              </a:spcBef>
            </a:pPr>
            <a:r>
              <a:rPr lang="en-US" sz="1400" spc="-28">
                <a:solidFill>
                  <a:srgbClr val="525252"/>
                </a:solidFill>
                <a:latin typeface="IreneFlorentina"/>
                <a:ea typeface="IreneFlorentina"/>
                <a:cs typeface="IreneFlorentina"/>
                <a:sym typeface="IreneFlorentina"/>
              </a:rPr>
              <a:t>+123-456-7890</a:t>
            </a:r>
          </a:p>
        </p:txBody>
      </p:sp>
      <p:sp>
        <p:nvSpPr>
          <p:cNvPr name="Freeform 9" id="9"/>
          <p:cNvSpPr/>
          <p:nvPr/>
        </p:nvSpPr>
        <p:spPr>
          <a:xfrm flipH="false" flipV="false" rot="0">
            <a:off x="7463316" y="1993583"/>
            <a:ext cx="734850" cy="734850"/>
          </a:xfrm>
          <a:custGeom>
            <a:avLst/>
            <a:gdLst/>
            <a:ahLst/>
            <a:cxnLst/>
            <a:rect r="r" b="b" t="t" l="l"/>
            <a:pathLst>
              <a:path h="734850" w="734850">
                <a:moveTo>
                  <a:pt x="0" y="0"/>
                </a:moveTo>
                <a:lnTo>
                  <a:pt x="734850" y="0"/>
                </a:lnTo>
                <a:lnTo>
                  <a:pt x="734850"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167002" y="8417405"/>
            <a:ext cx="734850" cy="734850"/>
          </a:xfrm>
          <a:custGeom>
            <a:avLst/>
            <a:gdLst/>
            <a:ahLst/>
            <a:cxnLst/>
            <a:rect r="r" b="b" t="t" l="l"/>
            <a:pathLst>
              <a:path h="734850" w="734850">
                <a:moveTo>
                  <a:pt x="0" y="0"/>
                </a:moveTo>
                <a:lnTo>
                  <a:pt x="734849" y="0"/>
                </a:lnTo>
                <a:lnTo>
                  <a:pt x="734849" y="734850"/>
                </a:lnTo>
                <a:lnTo>
                  <a:pt x="0" y="734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DAHJ2esDaNQ</dc:identifier>
  <dcterms:modified xsi:type="dcterms:W3CDTF">2011-08-01T06:04:30Z</dcterms:modified>
  <cp:revision>1</cp:revision>
  <dc:title>Black White Illustration Social Emotional Learning Presentation</dc:title>
</cp:coreProperties>
</file>