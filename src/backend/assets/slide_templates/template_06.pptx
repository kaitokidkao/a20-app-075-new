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Bicubik" charset="1" panose="02000503020000020004"/>
      <p:regular r:id="rId26"/>
    </p:embeddedFont>
    <p:embeddedFont>
      <p:font typeface="Open Sauce Light" charset="1" panose="00000400000000000000"/>
      <p:regular r:id="rId27"/>
    </p:embeddedFont>
    <p:embeddedFont>
      <p:font typeface="Open Sauce" charset="1" panose="00000500000000000000"/>
      <p:regular r:id="rId28"/>
    </p:embeddedFont>
    <p:embeddedFont>
      <p:font typeface="Open Sauce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3.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4.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6.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8.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0.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1.jpe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2.jpeg" Type="http://schemas.openxmlformats.org/officeDocument/2006/relationships/image"/><Relationship Id="rId9"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3.jpe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 Id="rId7" Target="../media/image26.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3.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4.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6.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8.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0.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1.jpe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22.jpeg" Type="http://schemas.openxmlformats.org/officeDocument/2006/relationships/image"/><Relationship Id="rId9"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3.jpe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 Id="rId7" Target="../media/image26.jpe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1.png" Type="http://schemas.openxmlformats.org/officeDocument/2006/relationships/image"/><Relationship Id="rId17" Target="../media/image2.svg" Type="http://schemas.openxmlformats.org/officeDocument/2006/relationships/image"/><Relationship Id="rId18" Target="../media/image10.png" Type="http://schemas.openxmlformats.org/officeDocument/2006/relationships/image"/><Relationship Id="rId19" Target="../media/image11.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9.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30.jpe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15793181" y="3724029"/>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224900" y="2001515"/>
            <a:ext cx="3838199" cy="3838199"/>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0" t="0" r="-50063" b="0"/>
              </a:stretch>
            </a:blipFill>
          </p:spPr>
        </p:sp>
      </p:grpSp>
      <p:grpSp>
        <p:nvGrpSpPr>
          <p:cNvPr name="Group 8" id="8"/>
          <p:cNvGrpSpPr/>
          <p:nvPr/>
        </p:nvGrpSpPr>
        <p:grpSpPr>
          <a:xfrm rot="-584095">
            <a:off x="3427895" y="2801180"/>
            <a:ext cx="2686958" cy="2686958"/>
            <a:chOff x="0" y="0"/>
            <a:chExt cx="6350000" cy="6350000"/>
          </a:xfrm>
        </p:grpSpPr>
        <p:sp>
          <p:nvSpPr>
            <p:cNvPr name="Freeform 9" id="9"/>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24916" t="0" r="-24916" b="0"/>
              </a:stretch>
            </a:blipFill>
          </p:spPr>
        </p:sp>
      </p:grpSp>
      <p:grpSp>
        <p:nvGrpSpPr>
          <p:cNvPr name="Group 10" id="10"/>
          <p:cNvGrpSpPr/>
          <p:nvPr/>
        </p:nvGrpSpPr>
        <p:grpSpPr>
          <a:xfrm rot="578107">
            <a:off x="12175060" y="2803093"/>
            <a:ext cx="2686958" cy="2686958"/>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6"/>
              <a:stretch>
                <a:fillRect l="-13260" t="0" r="-36803" b="0"/>
              </a:stretch>
            </a:blipFill>
          </p:spPr>
        </p:sp>
      </p:grpSp>
      <p:grpSp>
        <p:nvGrpSpPr>
          <p:cNvPr name="Group 12" id="12"/>
          <p:cNvGrpSpPr/>
          <p:nvPr/>
        </p:nvGrpSpPr>
        <p:grpSpPr>
          <a:xfrm rot="0">
            <a:off x="7106855" y="8682203"/>
            <a:ext cx="4074290" cy="576097"/>
            <a:chOff x="0" y="0"/>
            <a:chExt cx="1073064" cy="151729"/>
          </a:xfrm>
        </p:grpSpPr>
        <p:sp>
          <p:nvSpPr>
            <p:cNvPr name="Freeform 13" id="13"/>
            <p:cNvSpPr/>
            <p:nvPr/>
          </p:nvSpPr>
          <p:spPr>
            <a:xfrm flipH="false" flipV="false" rot="0">
              <a:off x="0" y="0"/>
              <a:ext cx="1073064" cy="151729"/>
            </a:xfrm>
            <a:custGeom>
              <a:avLst/>
              <a:gdLst/>
              <a:ahLst/>
              <a:cxnLst/>
              <a:rect r="r" b="b" t="t" l="l"/>
              <a:pathLst>
                <a:path h="151729" w="1073064">
                  <a:moveTo>
                    <a:pt x="0" y="0"/>
                  </a:moveTo>
                  <a:lnTo>
                    <a:pt x="1073064" y="0"/>
                  </a:lnTo>
                  <a:lnTo>
                    <a:pt x="1073064" y="151729"/>
                  </a:lnTo>
                  <a:lnTo>
                    <a:pt x="0" y="151729"/>
                  </a:lnTo>
                  <a:close/>
                </a:path>
              </a:pathLst>
            </a:custGeom>
            <a:solidFill>
              <a:srgbClr val="1E1E1E"/>
            </a:solidFill>
            <a:ln w="9525" cap="sq">
              <a:solidFill>
                <a:srgbClr val="737373"/>
              </a:solidFill>
              <a:prstDash val="solid"/>
              <a:miter/>
            </a:ln>
          </p:spPr>
        </p:sp>
        <p:sp>
          <p:nvSpPr>
            <p:cNvPr name="TextBox 14" id="14"/>
            <p:cNvSpPr txBox="true"/>
            <p:nvPr/>
          </p:nvSpPr>
          <p:spPr>
            <a:xfrm>
              <a:off x="0" y="47625"/>
              <a:ext cx="1073064" cy="104104"/>
            </a:xfrm>
            <a:prstGeom prst="rect">
              <a:avLst/>
            </a:prstGeom>
          </p:spPr>
          <p:txBody>
            <a:bodyPr anchor="ctr" rtlCol="false" tIns="50800" lIns="50800" bIns="50800" rIns="50800"/>
            <a:lstStyle/>
            <a:p>
              <a:pPr algn="ctr">
                <a:lnSpc>
                  <a:spcPts val="1120"/>
                </a:lnSpc>
              </a:pPr>
            </a:p>
          </p:txBody>
        </p:sp>
      </p:grpSp>
      <p:sp>
        <p:nvSpPr>
          <p:cNvPr name="Freeform 15" id="15"/>
          <p:cNvSpPr/>
          <p:nvPr/>
        </p:nvSpPr>
        <p:spPr>
          <a:xfrm flipH="false" flipV="false" rot="0">
            <a:off x="6163322" y="8930724"/>
            <a:ext cx="316219" cy="79055"/>
          </a:xfrm>
          <a:custGeom>
            <a:avLst/>
            <a:gdLst/>
            <a:ahLst/>
            <a:cxnLst/>
            <a:rect r="r" b="b" t="t" l="l"/>
            <a:pathLst>
              <a:path h="79055" w="316219">
                <a:moveTo>
                  <a:pt x="0" y="0"/>
                </a:moveTo>
                <a:lnTo>
                  <a:pt x="316220" y="0"/>
                </a:lnTo>
                <a:lnTo>
                  <a:pt x="316220" y="79055"/>
                </a:lnTo>
                <a:lnTo>
                  <a:pt x="0" y="790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1809795" y="8930724"/>
            <a:ext cx="316219" cy="79055"/>
          </a:xfrm>
          <a:custGeom>
            <a:avLst/>
            <a:gdLst/>
            <a:ahLst/>
            <a:cxnLst/>
            <a:rect r="r" b="b" t="t" l="l"/>
            <a:pathLst>
              <a:path h="79055" w="316219">
                <a:moveTo>
                  <a:pt x="0" y="0"/>
                </a:moveTo>
                <a:lnTo>
                  <a:pt x="316219" y="0"/>
                </a:lnTo>
                <a:lnTo>
                  <a:pt x="316219" y="79055"/>
                </a:lnTo>
                <a:lnTo>
                  <a:pt x="0" y="790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028700" y="3724029"/>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8869726" y="5563527"/>
            <a:ext cx="552375" cy="552375"/>
          </a:xfrm>
          <a:custGeom>
            <a:avLst/>
            <a:gdLst/>
            <a:ahLst/>
            <a:cxnLst/>
            <a:rect r="r" b="b" t="t" l="l"/>
            <a:pathLst>
              <a:path h="552375" w="552375">
                <a:moveTo>
                  <a:pt x="0" y="0"/>
                </a:moveTo>
                <a:lnTo>
                  <a:pt x="552375" y="0"/>
                </a:lnTo>
                <a:lnTo>
                  <a:pt x="552375" y="552375"/>
                </a:lnTo>
                <a:lnTo>
                  <a:pt x="0" y="5523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0" id="20"/>
          <p:cNvSpPr txBox="true"/>
          <p:nvPr/>
        </p:nvSpPr>
        <p:spPr>
          <a:xfrm rot="0">
            <a:off x="1793770" y="6582724"/>
            <a:ext cx="14700460" cy="1582130"/>
          </a:xfrm>
          <a:prstGeom prst="rect">
            <a:avLst/>
          </a:prstGeom>
        </p:spPr>
        <p:txBody>
          <a:bodyPr anchor="t" rtlCol="false" tIns="0" lIns="0" bIns="0" rIns="0">
            <a:spAutoFit/>
          </a:bodyPr>
          <a:lstStyle/>
          <a:p>
            <a:pPr algn="ctr">
              <a:lnSpc>
                <a:spcPts val="12893"/>
              </a:lnSpc>
              <a:spcBef>
                <a:spcPct val="0"/>
              </a:spcBef>
            </a:pPr>
            <a:r>
              <a:rPr lang="en-US" sz="9209">
                <a:solidFill>
                  <a:srgbClr val="C1FF72"/>
                </a:solidFill>
                <a:latin typeface="Bicubik"/>
                <a:ea typeface="Bicubik"/>
                <a:cs typeface="Bicubik"/>
                <a:sym typeface="Bicubik"/>
              </a:rPr>
              <a:t>Machine Learning</a:t>
            </a:r>
          </a:p>
        </p:txBody>
      </p:sp>
      <p:sp>
        <p:nvSpPr>
          <p:cNvPr name="TextBox 21" id="21"/>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
        <p:nvSpPr>
          <p:cNvPr name="TextBox 22" id="22"/>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3" id="23"/>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4" id="24"/>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5" id="25"/>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6" id="26"/>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7" id="27"/>
          <p:cNvSpPr txBox="true"/>
          <p:nvPr/>
        </p:nvSpPr>
        <p:spPr>
          <a:xfrm rot="0">
            <a:off x="7326681" y="8915641"/>
            <a:ext cx="3634637"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Understanding the Basics and Applications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grpSp>
        <p:nvGrpSpPr>
          <p:cNvPr name="Group 5" id="5"/>
          <p:cNvGrpSpPr/>
          <p:nvPr/>
        </p:nvGrpSpPr>
        <p:grpSpPr>
          <a:xfrm rot="578107">
            <a:off x="11931383" y="3546342"/>
            <a:ext cx="4948683" cy="4948683"/>
            <a:chOff x="0" y="0"/>
            <a:chExt cx="6350000" cy="6350000"/>
          </a:xfrm>
        </p:grpSpPr>
        <p:sp>
          <p:nvSpPr>
            <p:cNvPr name="Freeform 6" id="6"/>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2"/>
              <a:stretch>
                <a:fillRect l="-24916" t="0" r="-24916" b="0"/>
              </a:stretch>
            </a:blipFill>
          </p:spPr>
        </p:sp>
      </p:grpSp>
      <p:sp>
        <p:nvSpPr>
          <p:cNvPr name="Freeform 7" id="7"/>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5891596" y="4189941"/>
            <a:ext cx="953559" cy="953559"/>
          </a:xfrm>
          <a:custGeom>
            <a:avLst/>
            <a:gdLst/>
            <a:ahLst/>
            <a:cxnLst/>
            <a:rect r="r" b="b" t="t" l="l"/>
            <a:pathLst>
              <a:path h="953559" w="953559">
                <a:moveTo>
                  <a:pt x="0" y="0"/>
                </a:moveTo>
                <a:lnTo>
                  <a:pt x="953558" y="0"/>
                </a:lnTo>
                <a:lnTo>
                  <a:pt x="953558" y="953559"/>
                </a:lnTo>
                <a:lnTo>
                  <a:pt x="0" y="9535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028700" y="2911011"/>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Introduction</a:t>
            </a:r>
          </a:p>
        </p:txBody>
      </p:sp>
      <p:sp>
        <p:nvSpPr>
          <p:cNvPr name="TextBox 12" id="12"/>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3" id="13"/>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4" id="14"/>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5" id="15"/>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6" id="16"/>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7" id="17"/>
          <p:cNvSpPr txBox="true"/>
          <p:nvPr/>
        </p:nvSpPr>
        <p:spPr>
          <a:xfrm rot="0">
            <a:off x="5726239" y="5114925"/>
            <a:ext cx="3417761"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Machine Learning (ML) is a branch of artificial intelligence that enables computer systems to automatically learn and improve from experience without explicit programming. By analyzing data and recognizing patterns, ML models can make predictions and improve over time.</a:t>
            </a:r>
          </a:p>
        </p:txBody>
      </p:sp>
      <p:sp>
        <p:nvSpPr>
          <p:cNvPr name="TextBox 18" id="18"/>
          <p:cNvSpPr txBox="true"/>
          <p:nvPr/>
        </p:nvSpPr>
        <p:spPr>
          <a:xfrm rot="0">
            <a:off x="5726239" y="7531272"/>
            <a:ext cx="3417761"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ML plays a crucial role in modern technology, powering applications in healthcare, finance, marketing, and various industries. From recommendation systems to fraud detection and autonomous vehicles, ML is transforming the way we interact with technology.</a:t>
            </a:r>
          </a:p>
        </p:txBody>
      </p:sp>
      <p:sp>
        <p:nvSpPr>
          <p:cNvPr name="TextBox 19" id="19"/>
          <p:cNvSpPr txBox="true"/>
          <p:nvPr/>
        </p:nvSpPr>
        <p:spPr>
          <a:xfrm rot="0">
            <a:off x="1028700" y="5095875"/>
            <a:ext cx="3417761" cy="1243767"/>
          </a:xfrm>
          <a:prstGeom prst="rect">
            <a:avLst/>
          </a:prstGeom>
        </p:spPr>
        <p:txBody>
          <a:bodyPr anchor="t" rtlCol="false" tIns="0" lIns="0" bIns="0" rIns="0">
            <a:spAutoFit/>
          </a:bodyPr>
          <a:lstStyle/>
          <a:p>
            <a:pPr algn="l">
              <a:lnSpc>
                <a:spcPts val="3359"/>
              </a:lnSpc>
            </a:pPr>
            <a:r>
              <a:rPr lang="en-US" sz="2400" spc="-96">
                <a:solidFill>
                  <a:srgbClr val="D9D9D9"/>
                </a:solidFill>
                <a:latin typeface="Open Sauce"/>
                <a:ea typeface="Open Sauce"/>
                <a:cs typeface="Open Sauce"/>
                <a:sym typeface="Open Sauce"/>
              </a:rPr>
              <a:t>The Role of Machine Learning in Modern Technology</a:t>
            </a:r>
          </a:p>
        </p:txBody>
      </p:sp>
      <p:sp>
        <p:nvSpPr>
          <p:cNvPr name="TextBox 20" id="20"/>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16782521"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84095">
            <a:off x="1344769" y="6913856"/>
            <a:ext cx="4086467" cy="4086467"/>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891" t="0" r="-24891" b="0"/>
              </a:stretch>
            </a:blipFill>
          </p:spPr>
        </p:sp>
      </p:grpSp>
      <p:sp>
        <p:nvSpPr>
          <p:cNvPr name="TextBox 8" id="8"/>
          <p:cNvSpPr txBox="true"/>
          <p:nvPr/>
        </p:nvSpPr>
        <p:spPr>
          <a:xfrm rot="0">
            <a:off x="1028700" y="2882436"/>
            <a:ext cx="6300687" cy="2574995"/>
          </a:xfrm>
          <a:prstGeom prst="rect">
            <a:avLst/>
          </a:prstGeom>
        </p:spPr>
        <p:txBody>
          <a:bodyPr anchor="t" rtlCol="false" tIns="0" lIns="0" bIns="0" rIns="0">
            <a:spAutoFit/>
          </a:bodyPr>
          <a:lstStyle/>
          <a:p>
            <a:pPr algn="l">
              <a:lnSpc>
                <a:spcPts val="6560"/>
              </a:lnSpc>
            </a:pPr>
            <a:r>
              <a:rPr lang="en-US" sz="7289">
                <a:solidFill>
                  <a:srgbClr val="C1FF72"/>
                </a:solidFill>
                <a:latin typeface="Bicubik"/>
                <a:ea typeface="Bicubik"/>
                <a:cs typeface="Bicubik"/>
                <a:sym typeface="Bicubik"/>
              </a:rPr>
              <a:t>History of Machine Learning</a:t>
            </a:r>
          </a:p>
        </p:txBody>
      </p:sp>
      <p:sp>
        <p:nvSpPr>
          <p:cNvPr name="TextBox 9" id="9"/>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0" id="10"/>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1" id="11"/>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2" id="12"/>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3" id="13"/>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4" id="14"/>
          <p:cNvSpPr txBox="true"/>
          <p:nvPr/>
        </p:nvSpPr>
        <p:spPr>
          <a:xfrm rot="0">
            <a:off x="13841539" y="2663361"/>
            <a:ext cx="3417761"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concept of machines learning from data dates back to early computational theories, where researchers explored how algorithms could improve their performance without direct human intervention.</a:t>
            </a:r>
          </a:p>
        </p:txBody>
      </p:sp>
      <p:sp>
        <p:nvSpPr>
          <p:cNvPr name="TextBox 15" id="15"/>
          <p:cNvSpPr txBox="true"/>
          <p:nvPr/>
        </p:nvSpPr>
        <p:spPr>
          <a:xfrm rot="0">
            <a:off x="10170757" y="4616286"/>
            <a:ext cx="3417761"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Over time, statistical models and algorithms evolved, allowing more efficient learning from structured and unstructured data. The introduction of neural networks marked a significant advancement in ML capabilities.</a:t>
            </a:r>
          </a:p>
        </p:txBody>
      </p:sp>
      <p:sp>
        <p:nvSpPr>
          <p:cNvPr name="Freeform 16" id="16"/>
          <p:cNvSpPr/>
          <p:nvPr/>
        </p:nvSpPr>
        <p:spPr>
          <a:xfrm flipH="false" flipV="false" rot="0">
            <a:off x="15793181" y="4969046"/>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0170757" y="2644311"/>
            <a:ext cx="1823522" cy="1243767"/>
          </a:xfrm>
          <a:prstGeom prst="rect">
            <a:avLst/>
          </a:prstGeom>
        </p:spPr>
        <p:txBody>
          <a:bodyPr anchor="t" rtlCol="false" tIns="0" lIns="0" bIns="0" rIns="0">
            <a:spAutoFit/>
          </a:bodyPr>
          <a:lstStyle/>
          <a:p>
            <a:pPr algn="l">
              <a:lnSpc>
                <a:spcPts val="3359"/>
              </a:lnSpc>
            </a:pPr>
            <a:r>
              <a:rPr lang="en-US" sz="2400" spc="-96">
                <a:solidFill>
                  <a:srgbClr val="C1FF72"/>
                </a:solidFill>
                <a:latin typeface="Open Sauce"/>
                <a:ea typeface="Open Sauce"/>
                <a:cs typeface="Open Sauce"/>
                <a:sym typeface="Open Sauce"/>
              </a:rPr>
              <a:t>Evolution of Machine Learning</a:t>
            </a:r>
          </a:p>
        </p:txBody>
      </p:sp>
      <p:sp>
        <p:nvSpPr>
          <p:cNvPr name="TextBox 18" id="18"/>
          <p:cNvSpPr txBox="true"/>
          <p:nvPr/>
        </p:nvSpPr>
        <p:spPr>
          <a:xfrm rot="0">
            <a:off x="13841539" y="6569211"/>
            <a:ext cx="3417761"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With the advent of large-scale data, improved computational power, and cloud-based infrastructure, ML has become a foundational element of artificial intelligence research.</a:t>
            </a:r>
          </a:p>
        </p:txBody>
      </p:sp>
      <p:sp>
        <p:nvSpPr>
          <p:cNvPr name="TextBox 19" id="19"/>
          <p:cNvSpPr txBox="true"/>
          <p:nvPr/>
        </p:nvSpPr>
        <p:spPr>
          <a:xfrm rot="0">
            <a:off x="10170757" y="8274420"/>
            <a:ext cx="3417761"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Today, deep learning techniques and sophisticated AI models continue to push the boundaries of what machines can achieve.</a:t>
            </a:r>
          </a:p>
        </p:txBody>
      </p:sp>
      <p:grpSp>
        <p:nvGrpSpPr>
          <p:cNvPr name="Group 20" id="20"/>
          <p:cNvGrpSpPr/>
          <p:nvPr/>
        </p:nvGrpSpPr>
        <p:grpSpPr>
          <a:xfrm rot="578107">
            <a:off x="6851897" y="4311761"/>
            <a:ext cx="2123309" cy="2123309"/>
            <a:chOff x="0" y="0"/>
            <a:chExt cx="6350000" cy="6350000"/>
          </a:xfrm>
        </p:grpSpPr>
        <p:sp>
          <p:nvSpPr>
            <p:cNvPr name="Freeform 21" id="2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25172" t="0" r="-25172" b="0"/>
              </a:stretch>
            </a:blipFill>
          </p:spPr>
        </p:sp>
      </p:grpSp>
      <p:sp>
        <p:nvSpPr>
          <p:cNvPr name="Freeform 22" id="22"/>
          <p:cNvSpPr/>
          <p:nvPr/>
        </p:nvSpPr>
        <p:spPr>
          <a:xfrm flipH="false" flipV="false" rot="0">
            <a:off x="4792001" y="8302995"/>
            <a:ext cx="955305" cy="955305"/>
          </a:xfrm>
          <a:custGeom>
            <a:avLst/>
            <a:gdLst/>
            <a:ahLst/>
            <a:cxnLst/>
            <a:rect r="r" b="b" t="t" l="l"/>
            <a:pathLst>
              <a:path h="955305" w="955305">
                <a:moveTo>
                  <a:pt x="0" y="0"/>
                </a:moveTo>
                <a:lnTo>
                  <a:pt x="955305" y="0"/>
                </a:lnTo>
                <a:lnTo>
                  <a:pt x="955305" y="955305"/>
                </a:lnTo>
                <a:lnTo>
                  <a:pt x="0" y="955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7618828"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3926924" y="4518899"/>
            <a:ext cx="1673355" cy="915781"/>
          </a:xfrm>
          <a:custGeom>
            <a:avLst/>
            <a:gdLst/>
            <a:ahLst/>
            <a:cxnLst/>
            <a:rect r="r" b="b" t="t" l="l"/>
            <a:pathLst>
              <a:path h="915781" w="1673355">
                <a:moveTo>
                  <a:pt x="0" y="0"/>
                </a:moveTo>
                <a:lnTo>
                  <a:pt x="1673355" y="0"/>
                </a:lnTo>
                <a:lnTo>
                  <a:pt x="1673355" y="915781"/>
                </a:lnTo>
                <a:lnTo>
                  <a:pt x="0" y="9157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84095">
            <a:off x="13092620" y="2367084"/>
            <a:ext cx="3149577" cy="3149577"/>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38871" t="0" r="-38871" b="0"/>
              </a:stretch>
            </a:blipFill>
          </p:spPr>
        </p:sp>
      </p:grpSp>
      <p:sp>
        <p:nvSpPr>
          <p:cNvPr name="Freeform 8" id="8"/>
          <p:cNvSpPr/>
          <p:nvPr/>
        </p:nvSpPr>
        <p:spPr>
          <a:xfrm flipH="false" flipV="false" rot="0">
            <a:off x="15832832" y="3213528"/>
            <a:ext cx="709171" cy="709171"/>
          </a:xfrm>
          <a:custGeom>
            <a:avLst/>
            <a:gdLst/>
            <a:ahLst/>
            <a:cxnLst/>
            <a:rect r="r" b="b" t="t" l="l"/>
            <a:pathLst>
              <a:path h="709171" w="709171">
                <a:moveTo>
                  <a:pt x="0" y="0"/>
                </a:moveTo>
                <a:lnTo>
                  <a:pt x="709171" y="0"/>
                </a:lnTo>
                <a:lnTo>
                  <a:pt x="709171" y="709171"/>
                </a:lnTo>
                <a:lnTo>
                  <a:pt x="0" y="7091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578107">
            <a:off x="8155714" y="7942881"/>
            <a:ext cx="3080709" cy="3080709"/>
            <a:chOff x="0" y="0"/>
            <a:chExt cx="6350000" cy="6350000"/>
          </a:xfrm>
        </p:grpSpPr>
        <p:sp>
          <p:nvSpPr>
            <p:cNvPr name="Freeform 10" id="1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16653" t="0" r="-16653" b="0"/>
              </a:stretch>
            </a:blipFill>
          </p:spPr>
        </p:sp>
      </p:grpSp>
      <p:sp>
        <p:nvSpPr>
          <p:cNvPr name="Freeform 11" id="11"/>
          <p:cNvSpPr/>
          <p:nvPr/>
        </p:nvSpPr>
        <p:spPr>
          <a:xfrm flipH="false" flipV="false" rot="0">
            <a:off x="8481686"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1028700" y="6619701"/>
            <a:ext cx="5970595" cy="2889853"/>
          </a:xfrm>
          <a:prstGeom prst="rect">
            <a:avLst/>
          </a:prstGeom>
        </p:spPr>
        <p:txBody>
          <a:bodyPr anchor="t" rtlCol="false" tIns="0" lIns="0" bIns="0" rIns="0">
            <a:spAutoFit/>
          </a:bodyPr>
          <a:lstStyle/>
          <a:p>
            <a:pPr algn="l">
              <a:lnSpc>
                <a:spcPts val="7352"/>
              </a:lnSpc>
            </a:pPr>
            <a:r>
              <a:rPr lang="en-US" sz="8169">
                <a:solidFill>
                  <a:srgbClr val="C1FF72"/>
                </a:solidFill>
                <a:latin typeface="Bicubik"/>
                <a:ea typeface="Bicubik"/>
                <a:cs typeface="Bicubik"/>
                <a:sym typeface="Bicubik"/>
              </a:rPr>
              <a:t>Types of Machine Learning</a:t>
            </a:r>
          </a:p>
        </p:txBody>
      </p:sp>
      <p:sp>
        <p:nvSpPr>
          <p:cNvPr name="TextBox 14" id="14"/>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5" id="15"/>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6" id="16"/>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7" id="17"/>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8" id="18"/>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9" id="19"/>
          <p:cNvSpPr txBox="true"/>
          <p:nvPr/>
        </p:nvSpPr>
        <p:spPr>
          <a:xfrm rot="0">
            <a:off x="1192413" y="2691104"/>
            <a:ext cx="4407866"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This type of ML uses labeled datasets, where input-output pairs help the model learn and predict outcomes. Examples include regression for continuous predictions and classification for categorical predictions.</a:t>
            </a:r>
          </a:p>
        </p:txBody>
      </p:sp>
      <p:sp>
        <p:nvSpPr>
          <p:cNvPr name="TextBox 20" id="20"/>
          <p:cNvSpPr txBox="true"/>
          <p:nvPr/>
        </p:nvSpPr>
        <p:spPr>
          <a:xfrm rot="0">
            <a:off x="7021923" y="4490324"/>
            <a:ext cx="4407866"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Unsupervised Learning - Unlike supervised learning, this approach works with unlabeled data. The model identifies hidden patterns and structures within the data, such as clustering or dimensionality reduction. Common applications include customer segmentation and anomaly detection.</a:t>
            </a:r>
          </a:p>
        </p:txBody>
      </p:sp>
      <p:sp>
        <p:nvSpPr>
          <p:cNvPr name="TextBox 21" id="21"/>
          <p:cNvSpPr txBox="true"/>
          <p:nvPr/>
        </p:nvSpPr>
        <p:spPr>
          <a:xfrm rot="0">
            <a:off x="12851434" y="8274420"/>
            <a:ext cx="4407866"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Reinforcement Learning - This learning paradigm focuses on decision-making through trial and error, optimizing for maximum reward. It is widely used in robotics, game playing, and real-time decision systems.</a:t>
            </a:r>
          </a:p>
        </p:txBody>
      </p:sp>
      <p:sp>
        <p:nvSpPr>
          <p:cNvPr name="TextBox 22" id="22"/>
          <p:cNvSpPr txBox="true"/>
          <p:nvPr/>
        </p:nvSpPr>
        <p:spPr>
          <a:xfrm rot="0">
            <a:off x="1192413" y="2075854"/>
            <a:ext cx="4407866" cy="405699"/>
          </a:xfrm>
          <a:prstGeom prst="rect">
            <a:avLst/>
          </a:prstGeom>
        </p:spPr>
        <p:txBody>
          <a:bodyPr anchor="t" rtlCol="false" tIns="0" lIns="0" bIns="0" rIns="0">
            <a:spAutoFit/>
          </a:bodyPr>
          <a:lstStyle/>
          <a:p>
            <a:pPr algn="l">
              <a:lnSpc>
                <a:spcPts val="3359"/>
              </a:lnSpc>
            </a:pPr>
            <a:r>
              <a:rPr lang="en-US" sz="2399" spc="-95">
                <a:solidFill>
                  <a:srgbClr val="D9D9D9"/>
                </a:solidFill>
                <a:latin typeface="Open Sauce"/>
                <a:ea typeface="Open Sauce"/>
                <a:cs typeface="Open Sauce"/>
                <a:sym typeface="Open Sauce"/>
              </a:rPr>
              <a:t>Supervised Learning</a:t>
            </a:r>
          </a:p>
        </p:txBody>
      </p:sp>
      <p:sp>
        <p:nvSpPr>
          <p:cNvPr name="TextBox 23" id="23"/>
          <p:cNvSpPr txBox="true"/>
          <p:nvPr/>
        </p:nvSpPr>
        <p:spPr>
          <a:xfrm rot="0">
            <a:off x="7021923" y="3875074"/>
            <a:ext cx="4407866" cy="405699"/>
          </a:xfrm>
          <a:prstGeom prst="rect">
            <a:avLst/>
          </a:prstGeom>
        </p:spPr>
        <p:txBody>
          <a:bodyPr anchor="t" rtlCol="false" tIns="0" lIns="0" bIns="0" rIns="0">
            <a:spAutoFit/>
          </a:bodyPr>
          <a:lstStyle/>
          <a:p>
            <a:pPr algn="l">
              <a:lnSpc>
                <a:spcPts val="3359"/>
              </a:lnSpc>
            </a:pPr>
            <a:r>
              <a:rPr lang="en-US" sz="2399" spc="-95">
                <a:solidFill>
                  <a:srgbClr val="D9D9D9"/>
                </a:solidFill>
                <a:latin typeface="Open Sauce"/>
                <a:ea typeface="Open Sauce"/>
                <a:cs typeface="Open Sauce"/>
                <a:sym typeface="Open Sauce"/>
              </a:rPr>
              <a:t>Unsupervised Learning</a:t>
            </a:r>
          </a:p>
        </p:txBody>
      </p:sp>
      <p:sp>
        <p:nvSpPr>
          <p:cNvPr name="TextBox 24" id="24"/>
          <p:cNvSpPr txBox="true"/>
          <p:nvPr/>
        </p:nvSpPr>
        <p:spPr>
          <a:xfrm rot="0">
            <a:off x="12851434" y="7659171"/>
            <a:ext cx="4407866" cy="405699"/>
          </a:xfrm>
          <a:prstGeom prst="rect">
            <a:avLst/>
          </a:prstGeom>
        </p:spPr>
        <p:txBody>
          <a:bodyPr anchor="t" rtlCol="false" tIns="0" lIns="0" bIns="0" rIns="0">
            <a:spAutoFit/>
          </a:bodyPr>
          <a:lstStyle/>
          <a:p>
            <a:pPr algn="l">
              <a:lnSpc>
                <a:spcPts val="3359"/>
              </a:lnSpc>
            </a:pPr>
            <a:r>
              <a:rPr lang="en-US" sz="2399" spc="-95">
                <a:solidFill>
                  <a:srgbClr val="D9D9D9"/>
                </a:solidFill>
                <a:latin typeface="Open Sauce"/>
                <a:ea typeface="Open Sauce"/>
                <a:cs typeface="Open Sauce"/>
                <a:sym typeface="Open Sauce"/>
              </a:rPr>
              <a:t>Reinforcement Learning</a:t>
            </a:r>
          </a:p>
        </p:txBody>
      </p:sp>
      <p:sp>
        <p:nvSpPr>
          <p:cNvPr name="TextBox 25" id="25"/>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6669202" y="5209273"/>
            <a:ext cx="9518215" cy="2650140"/>
          </a:xfrm>
          <a:prstGeom prst="rect">
            <a:avLst/>
          </a:prstGeom>
        </p:spPr>
        <p:txBody>
          <a:bodyPr anchor="t" rtlCol="false" tIns="0" lIns="0" bIns="0" rIns="0">
            <a:spAutoFit/>
          </a:bodyPr>
          <a:lstStyle/>
          <a:p>
            <a:pPr algn="l">
              <a:lnSpc>
                <a:spcPts val="6761"/>
              </a:lnSpc>
            </a:pPr>
            <a:r>
              <a:rPr lang="en-US" sz="7512">
                <a:solidFill>
                  <a:srgbClr val="C1FF72"/>
                </a:solidFill>
                <a:latin typeface="Bicubik"/>
                <a:ea typeface="Bicubik"/>
                <a:cs typeface="Bicubik"/>
                <a:sym typeface="Bicubik"/>
              </a:rPr>
              <a:t>Key Algorithms in Machine Learning</a:t>
            </a:r>
          </a:p>
        </p:txBody>
      </p:sp>
      <p:sp>
        <p:nvSpPr>
          <p:cNvPr name="Freeform 6" id="6"/>
          <p:cNvSpPr/>
          <p:nvPr/>
        </p:nvSpPr>
        <p:spPr>
          <a:xfrm flipH="false" flipV="false" rot="0">
            <a:off x="6669202" y="8342519"/>
            <a:ext cx="1673355" cy="915781"/>
          </a:xfrm>
          <a:custGeom>
            <a:avLst/>
            <a:gdLst/>
            <a:ahLst/>
            <a:cxnLst/>
            <a:rect r="r" b="b" t="t" l="l"/>
            <a:pathLst>
              <a:path h="915781" w="1673355">
                <a:moveTo>
                  <a:pt x="0" y="0"/>
                </a:moveTo>
                <a:lnTo>
                  <a:pt x="1673355" y="0"/>
                </a:lnTo>
                <a:lnTo>
                  <a:pt x="1673355" y="915781"/>
                </a:lnTo>
                <a:lnTo>
                  <a:pt x="0" y="9157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584095">
            <a:off x="13270669" y="7503229"/>
            <a:ext cx="3818992" cy="3818992"/>
            <a:chOff x="0" y="0"/>
            <a:chExt cx="6350000" cy="6350000"/>
          </a:xfrm>
        </p:grpSpPr>
        <p:sp>
          <p:nvSpPr>
            <p:cNvPr name="Freeform 8" id="8"/>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916" t="0" r="-24916" b="0"/>
              </a:stretch>
            </a:blipFill>
          </p:spPr>
        </p:sp>
      </p:grpSp>
      <p:sp>
        <p:nvSpPr>
          <p:cNvPr name="Freeform 9" id="9"/>
          <p:cNvSpPr/>
          <p:nvPr/>
        </p:nvSpPr>
        <p:spPr>
          <a:xfrm flipH="false" flipV="false" rot="0">
            <a:off x="16550129" y="7987933"/>
            <a:ext cx="709171" cy="709171"/>
          </a:xfrm>
          <a:custGeom>
            <a:avLst/>
            <a:gdLst/>
            <a:ahLst/>
            <a:cxnLst/>
            <a:rect r="r" b="b" t="t" l="l"/>
            <a:pathLst>
              <a:path h="709171" w="709171">
                <a:moveTo>
                  <a:pt x="0" y="0"/>
                </a:moveTo>
                <a:lnTo>
                  <a:pt x="709171" y="0"/>
                </a:lnTo>
                <a:lnTo>
                  <a:pt x="709171" y="709171"/>
                </a:lnTo>
                <a:lnTo>
                  <a:pt x="0" y="7091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28700" y="5009248"/>
            <a:ext cx="4249052" cy="4249052"/>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16653" t="0" r="-16653" b="0"/>
              </a:stretch>
            </a:blipFill>
          </p:spPr>
        </p:sp>
      </p:grpSp>
      <p:sp>
        <p:nvSpPr>
          <p:cNvPr name="Freeform 12" id="12"/>
          <p:cNvSpPr/>
          <p:nvPr/>
        </p:nvSpPr>
        <p:spPr>
          <a:xfrm flipH="false" flipV="false" rot="0">
            <a:off x="2914836" y="8697104"/>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5" id="15"/>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6" id="16"/>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7" id="17"/>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8" id="18"/>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9" id="19"/>
          <p:cNvSpPr txBox="true"/>
          <p:nvPr/>
        </p:nvSpPr>
        <p:spPr>
          <a:xfrm rot="0">
            <a:off x="1031908" y="2775170"/>
            <a:ext cx="2665717" cy="736163"/>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Used for predicting continuous values, such as stock prices and temperature forecasting.</a:t>
            </a:r>
          </a:p>
        </p:txBody>
      </p:sp>
      <p:sp>
        <p:nvSpPr>
          <p:cNvPr name="TextBox 20" id="20"/>
          <p:cNvSpPr txBox="true"/>
          <p:nvPr/>
        </p:nvSpPr>
        <p:spPr>
          <a:xfrm rot="0">
            <a:off x="1031908"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Regression Models</a:t>
            </a:r>
          </a:p>
        </p:txBody>
      </p:sp>
      <p:sp>
        <p:nvSpPr>
          <p:cNvPr name="TextBox 21" id="21"/>
          <p:cNvSpPr txBox="true"/>
          <p:nvPr/>
        </p:nvSpPr>
        <p:spPr>
          <a:xfrm rot="0">
            <a:off x="4423129" y="2775170"/>
            <a:ext cx="2665717"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 rule-based model that splits data into different categories for classification and decision-making.</a:t>
            </a:r>
          </a:p>
        </p:txBody>
      </p:sp>
      <p:sp>
        <p:nvSpPr>
          <p:cNvPr name="TextBox 22" id="22"/>
          <p:cNvSpPr txBox="true"/>
          <p:nvPr/>
        </p:nvSpPr>
        <p:spPr>
          <a:xfrm rot="0">
            <a:off x="4423129"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Decision Trees</a:t>
            </a:r>
          </a:p>
        </p:txBody>
      </p:sp>
      <p:sp>
        <p:nvSpPr>
          <p:cNvPr name="TextBox 23" id="23"/>
          <p:cNvSpPr txBox="true"/>
          <p:nvPr/>
        </p:nvSpPr>
        <p:spPr>
          <a:xfrm rot="0">
            <a:off x="7814350" y="2775170"/>
            <a:ext cx="2665717"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Methods such as k-Nearest Neighbors (k-NN) and Support Vector Machines (SVM) help categorize data points into predefined classes.</a:t>
            </a:r>
          </a:p>
        </p:txBody>
      </p:sp>
      <p:sp>
        <p:nvSpPr>
          <p:cNvPr name="TextBox 24" id="24"/>
          <p:cNvSpPr txBox="true"/>
          <p:nvPr/>
        </p:nvSpPr>
        <p:spPr>
          <a:xfrm rot="0">
            <a:off x="7814350"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Classification Techniques</a:t>
            </a:r>
          </a:p>
        </p:txBody>
      </p:sp>
      <p:sp>
        <p:nvSpPr>
          <p:cNvPr name="TextBox 25" id="25"/>
          <p:cNvSpPr txBox="true"/>
          <p:nvPr/>
        </p:nvSpPr>
        <p:spPr>
          <a:xfrm rot="0">
            <a:off x="11203967" y="3022886"/>
            <a:ext cx="2665717"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Mimic the human brain structure to process complex data and recognize patterns in images, speech, and text.</a:t>
            </a:r>
          </a:p>
        </p:txBody>
      </p:sp>
      <p:sp>
        <p:nvSpPr>
          <p:cNvPr name="TextBox 26" id="26"/>
          <p:cNvSpPr txBox="true"/>
          <p:nvPr/>
        </p:nvSpPr>
        <p:spPr>
          <a:xfrm rot="0">
            <a:off x="11203967" y="2358008"/>
            <a:ext cx="2665717" cy="488447"/>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Neural Networks &amp; Deep Learning:</a:t>
            </a:r>
          </a:p>
        </p:txBody>
      </p:sp>
      <p:sp>
        <p:nvSpPr>
          <p:cNvPr name="TextBox 27" id="27"/>
          <p:cNvSpPr txBox="true"/>
          <p:nvPr/>
        </p:nvSpPr>
        <p:spPr>
          <a:xfrm rot="0">
            <a:off x="14593583" y="2775170"/>
            <a:ext cx="2665717"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Algorithms such as k-Means and hierarchical clustering help group similar data points based on their attributes.</a:t>
            </a:r>
          </a:p>
        </p:txBody>
      </p:sp>
      <p:sp>
        <p:nvSpPr>
          <p:cNvPr name="TextBox 28" id="28"/>
          <p:cNvSpPr txBox="true"/>
          <p:nvPr/>
        </p:nvSpPr>
        <p:spPr>
          <a:xfrm rot="0">
            <a:off x="14593583"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Clustering Methods</a:t>
            </a:r>
          </a:p>
        </p:txBody>
      </p:sp>
      <p:sp>
        <p:nvSpPr>
          <p:cNvPr name="TextBox 29" id="29"/>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10170757" y="2924232"/>
            <a:ext cx="7088543" cy="2418235"/>
          </a:xfrm>
          <a:prstGeom prst="rect">
            <a:avLst/>
          </a:prstGeom>
        </p:spPr>
        <p:txBody>
          <a:bodyPr anchor="t" rtlCol="false" tIns="0" lIns="0" bIns="0" rIns="0">
            <a:spAutoFit/>
          </a:bodyPr>
          <a:lstStyle/>
          <a:p>
            <a:pPr algn="l">
              <a:lnSpc>
                <a:spcPts val="6165"/>
              </a:lnSpc>
            </a:pPr>
            <a:r>
              <a:rPr lang="en-US" sz="6850">
                <a:solidFill>
                  <a:srgbClr val="C1FF72"/>
                </a:solidFill>
                <a:latin typeface="Bicubik"/>
                <a:ea typeface="Bicubik"/>
                <a:cs typeface="Bicubik"/>
                <a:sym typeface="Bicubik"/>
              </a:rPr>
              <a:t>Applications of Machine Learning</a:t>
            </a:r>
          </a:p>
        </p:txBody>
      </p:sp>
      <p:grpSp>
        <p:nvGrpSpPr>
          <p:cNvPr name="Group 6" id="6"/>
          <p:cNvGrpSpPr/>
          <p:nvPr/>
        </p:nvGrpSpPr>
        <p:grpSpPr>
          <a:xfrm rot="578107">
            <a:off x="5805725" y="2229150"/>
            <a:ext cx="2706911" cy="2706911"/>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2"/>
              <a:stretch>
                <a:fillRect l="-25121" t="0" r="-25121" b="0"/>
              </a:stretch>
            </a:blipFill>
          </p:spPr>
        </p:sp>
      </p:grpSp>
      <p:sp>
        <p:nvSpPr>
          <p:cNvPr name="Freeform 8" id="8"/>
          <p:cNvSpPr/>
          <p:nvPr/>
        </p:nvSpPr>
        <p:spPr>
          <a:xfrm flipH="false" flipV="false" rot="0">
            <a:off x="16782521" y="50243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050457" y="6048889"/>
            <a:ext cx="3634704" cy="3209411"/>
            <a:chOff x="0" y="0"/>
            <a:chExt cx="957288" cy="845277"/>
          </a:xfrm>
        </p:grpSpPr>
        <p:sp>
          <p:nvSpPr>
            <p:cNvPr name="Freeform 10" id="10"/>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11" id="11"/>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grpSp>
        <p:nvGrpSpPr>
          <p:cNvPr name="Group 12" id="12"/>
          <p:cNvGrpSpPr/>
          <p:nvPr/>
        </p:nvGrpSpPr>
        <p:grpSpPr>
          <a:xfrm rot="0">
            <a:off x="1028700" y="2021710"/>
            <a:ext cx="3121790" cy="3121790"/>
            <a:chOff x="0" y="0"/>
            <a:chExt cx="6350000" cy="6350000"/>
          </a:xfrm>
        </p:grpSpPr>
        <p:sp>
          <p:nvSpPr>
            <p:cNvPr name="Freeform 13" id="13"/>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25031" t="0" r="-25031" b="0"/>
              </a:stretch>
            </a:blipFill>
          </p:spPr>
        </p:sp>
      </p:grpSp>
      <p:sp>
        <p:nvSpPr>
          <p:cNvPr name="Freeform 14" id="14"/>
          <p:cNvSpPr/>
          <p:nvPr/>
        </p:nvSpPr>
        <p:spPr>
          <a:xfrm flipH="false" flipV="false" rot="0">
            <a:off x="5243700" y="2743257"/>
            <a:ext cx="839348" cy="839348"/>
          </a:xfrm>
          <a:custGeom>
            <a:avLst/>
            <a:gdLst/>
            <a:ahLst/>
            <a:cxnLst/>
            <a:rect r="r" b="b" t="t" l="l"/>
            <a:pathLst>
              <a:path h="839348" w="839348">
                <a:moveTo>
                  <a:pt x="0" y="0"/>
                </a:moveTo>
                <a:lnTo>
                  <a:pt x="839347" y="0"/>
                </a:lnTo>
                <a:lnTo>
                  <a:pt x="839347" y="839348"/>
                </a:lnTo>
                <a:lnTo>
                  <a:pt x="0" y="8393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5" id="15"/>
          <p:cNvGrpSpPr/>
          <p:nvPr/>
        </p:nvGrpSpPr>
        <p:grpSpPr>
          <a:xfrm rot="0">
            <a:off x="1292468" y="3582605"/>
            <a:ext cx="2594254" cy="1377642"/>
            <a:chOff x="0" y="0"/>
            <a:chExt cx="683260" cy="362836"/>
          </a:xfrm>
        </p:grpSpPr>
        <p:sp>
          <p:nvSpPr>
            <p:cNvPr name="Freeform 16" id="16"/>
            <p:cNvSpPr/>
            <p:nvPr/>
          </p:nvSpPr>
          <p:spPr>
            <a:xfrm flipH="false" flipV="false" rot="0">
              <a:off x="0" y="0"/>
              <a:ext cx="683260" cy="362836"/>
            </a:xfrm>
            <a:custGeom>
              <a:avLst/>
              <a:gdLst/>
              <a:ahLst/>
              <a:cxnLst/>
              <a:rect r="r" b="b" t="t" l="l"/>
              <a:pathLst>
                <a:path h="362836" w="683260">
                  <a:moveTo>
                    <a:pt x="0" y="0"/>
                  </a:moveTo>
                  <a:lnTo>
                    <a:pt x="683260" y="0"/>
                  </a:lnTo>
                  <a:lnTo>
                    <a:pt x="683260" y="362836"/>
                  </a:lnTo>
                  <a:lnTo>
                    <a:pt x="0" y="362836"/>
                  </a:lnTo>
                  <a:close/>
                </a:path>
              </a:pathLst>
            </a:custGeom>
            <a:solidFill>
              <a:srgbClr val="1E1E1E"/>
            </a:solidFill>
            <a:ln w="9525" cap="sq">
              <a:solidFill>
                <a:srgbClr val="737373"/>
              </a:solidFill>
              <a:prstDash val="solid"/>
              <a:miter/>
            </a:ln>
          </p:spPr>
        </p:sp>
        <p:sp>
          <p:nvSpPr>
            <p:cNvPr name="TextBox 17" id="17"/>
            <p:cNvSpPr txBox="true"/>
            <p:nvPr/>
          </p:nvSpPr>
          <p:spPr>
            <a:xfrm>
              <a:off x="0" y="47625"/>
              <a:ext cx="683260" cy="315211"/>
            </a:xfrm>
            <a:prstGeom prst="rect">
              <a:avLst/>
            </a:prstGeom>
          </p:spPr>
          <p:txBody>
            <a:bodyPr anchor="ctr" rtlCol="false" tIns="50800" lIns="50800" bIns="50800" rIns="50800"/>
            <a:lstStyle/>
            <a:p>
              <a:pPr algn="ctr">
                <a:lnSpc>
                  <a:spcPts val="1120"/>
                </a:lnSpc>
              </a:pPr>
            </a:p>
          </p:txBody>
        </p:sp>
      </p:grpSp>
      <p:grpSp>
        <p:nvGrpSpPr>
          <p:cNvPr name="Group 18" id="18"/>
          <p:cNvGrpSpPr/>
          <p:nvPr/>
        </p:nvGrpSpPr>
        <p:grpSpPr>
          <a:xfrm rot="0">
            <a:off x="9243310" y="6048889"/>
            <a:ext cx="3634704" cy="3209411"/>
            <a:chOff x="0" y="0"/>
            <a:chExt cx="957288" cy="845277"/>
          </a:xfrm>
        </p:grpSpPr>
        <p:sp>
          <p:nvSpPr>
            <p:cNvPr name="Freeform 19" id="19"/>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20" id="20"/>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grpSp>
        <p:nvGrpSpPr>
          <p:cNvPr name="Group 21" id="21"/>
          <p:cNvGrpSpPr/>
          <p:nvPr/>
        </p:nvGrpSpPr>
        <p:grpSpPr>
          <a:xfrm rot="0">
            <a:off x="5243700" y="6048889"/>
            <a:ext cx="3634704" cy="3209411"/>
            <a:chOff x="0" y="0"/>
            <a:chExt cx="957288" cy="845277"/>
          </a:xfrm>
        </p:grpSpPr>
        <p:sp>
          <p:nvSpPr>
            <p:cNvPr name="Freeform 22" id="22"/>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23" id="23"/>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grpSp>
        <p:nvGrpSpPr>
          <p:cNvPr name="Group 24" id="24"/>
          <p:cNvGrpSpPr/>
          <p:nvPr/>
        </p:nvGrpSpPr>
        <p:grpSpPr>
          <a:xfrm rot="0">
            <a:off x="13833004" y="6048889"/>
            <a:ext cx="3634704" cy="3209411"/>
            <a:chOff x="0" y="0"/>
            <a:chExt cx="957288" cy="845277"/>
          </a:xfrm>
        </p:grpSpPr>
        <p:sp>
          <p:nvSpPr>
            <p:cNvPr name="Freeform 25" id="25"/>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26" id="26"/>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sp>
        <p:nvSpPr>
          <p:cNvPr name="Freeform 27" id="27"/>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8" id="28"/>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9" id="29"/>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30" id="30"/>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31" id="31"/>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32" id="32"/>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33" id="33"/>
          <p:cNvSpPr txBox="true"/>
          <p:nvPr/>
        </p:nvSpPr>
        <p:spPr>
          <a:xfrm rot="0">
            <a:off x="1465527" y="6984374"/>
            <a:ext cx="2804564"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Machine learning aids in medical diagnosis, personalized treatment plans, and predictive analytics for disease prevention. It helps doctors analyze vast amounts of medical data to detect patterns in patient health conditions.</a:t>
            </a:r>
          </a:p>
        </p:txBody>
      </p:sp>
      <p:sp>
        <p:nvSpPr>
          <p:cNvPr name="TextBox 34" id="34"/>
          <p:cNvSpPr txBox="true"/>
          <p:nvPr/>
        </p:nvSpPr>
        <p:spPr>
          <a:xfrm rot="0">
            <a:off x="1465527" y="6567212"/>
            <a:ext cx="28045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Healthcare</a:t>
            </a:r>
          </a:p>
        </p:txBody>
      </p:sp>
      <p:sp>
        <p:nvSpPr>
          <p:cNvPr name="TextBox 35" id="35"/>
          <p:cNvSpPr txBox="true"/>
          <p:nvPr/>
        </p:nvSpPr>
        <p:spPr>
          <a:xfrm rot="0">
            <a:off x="1292468" y="3835247"/>
            <a:ext cx="2594254" cy="824733"/>
          </a:xfrm>
          <a:prstGeom prst="rect">
            <a:avLst/>
          </a:prstGeom>
        </p:spPr>
        <p:txBody>
          <a:bodyPr anchor="t" rtlCol="false" tIns="0" lIns="0" bIns="0" rIns="0">
            <a:spAutoFit/>
          </a:bodyPr>
          <a:lstStyle/>
          <a:p>
            <a:pPr algn="ctr">
              <a:lnSpc>
                <a:spcPts val="3359"/>
              </a:lnSpc>
            </a:pPr>
            <a:r>
              <a:rPr lang="en-US" b="true" sz="2399" spc="-95">
                <a:solidFill>
                  <a:srgbClr val="D9D9D9"/>
                </a:solidFill>
                <a:latin typeface="Open Sauce Bold"/>
                <a:ea typeface="Open Sauce Bold"/>
                <a:cs typeface="Open Sauce Bold"/>
                <a:sym typeface="Open Sauce Bold"/>
              </a:rPr>
              <a:t>Real-World Applications</a:t>
            </a:r>
          </a:p>
        </p:txBody>
      </p:sp>
      <p:sp>
        <p:nvSpPr>
          <p:cNvPr name="TextBox 36" id="36"/>
          <p:cNvSpPr txBox="true"/>
          <p:nvPr/>
        </p:nvSpPr>
        <p:spPr>
          <a:xfrm rot="0">
            <a:off x="9658380" y="6984374"/>
            <a:ext cx="2804564"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Personalized recommendation engines analyze user behavior to provide targeted advertisements and content. Companies use ML for customer segmentation, improving sales strategies and customer engagement.</a:t>
            </a:r>
          </a:p>
        </p:txBody>
      </p:sp>
      <p:sp>
        <p:nvSpPr>
          <p:cNvPr name="TextBox 37" id="37"/>
          <p:cNvSpPr txBox="true"/>
          <p:nvPr/>
        </p:nvSpPr>
        <p:spPr>
          <a:xfrm rot="0">
            <a:off x="9658380" y="6567212"/>
            <a:ext cx="28045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Marketing</a:t>
            </a:r>
          </a:p>
        </p:txBody>
      </p:sp>
      <p:sp>
        <p:nvSpPr>
          <p:cNvPr name="TextBox 38" id="38"/>
          <p:cNvSpPr txBox="true"/>
          <p:nvPr/>
        </p:nvSpPr>
        <p:spPr>
          <a:xfrm rot="0">
            <a:off x="5765394" y="7232090"/>
            <a:ext cx="2787572"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Banks and financial institutions use ML for fraud detection, credit scoring, and algorithmic trading. Predictive analytics help prevent financial risks and assess customer creditworthiness.</a:t>
            </a:r>
          </a:p>
        </p:txBody>
      </p:sp>
      <p:sp>
        <p:nvSpPr>
          <p:cNvPr name="TextBox 39" id="39"/>
          <p:cNvSpPr txBox="true"/>
          <p:nvPr/>
        </p:nvSpPr>
        <p:spPr>
          <a:xfrm rot="0">
            <a:off x="5765394" y="6567212"/>
            <a:ext cx="2787572"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Finance</a:t>
            </a:r>
          </a:p>
        </p:txBody>
      </p:sp>
      <p:sp>
        <p:nvSpPr>
          <p:cNvPr name="TextBox 40" id="40"/>
          <p:cNvSpPr txBox="true"/>
          <p:nvPr/>
        </p:nvSpPr>
        <p:spPr>
          <a:xfrm rot="0">
            <a:off x="14216346" y="7727522"/>
            <a:ext cx="2804564"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Self-operating robots and self-driving vehicles rely on ML models to navigate, detect objects, and make real-time decisions.</a:t>
            </a:r>
          </a:p>
        </p:txBody>
      </p:sp>
      <p:sp>
        <p:nvSpPr>
          <p:cNvPr name="TextBox 41" id="41"/>
          <p:cNvSpPr txBox="true"/>
          <p:nvPr/>
        </p:nvSpPr>
        <p:spPr>
          <a:xfrm rot="0">
            <a:off x="14248074" y="6567212"/>
            <a:ext cx="28045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Autonomous Systems</a:t>
            </a:r>
          </a:p>
        </p:txBody>
      </p:sp>
      <p:sp>
        <p:nvSpPr>
          <p:cNvPr name="TextBox 42" id="42"/>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7694260" y="3164863"/>
            <a:ext cx="6723671" cy="2293970"/>
          </a:xfrm>
          <a:prstGeom prst="rect">
            <a:avLst/>
          </a:prstGeom>
        </p:spPr>
        <p:txBody>
          <a:bodyPr anchor="t" rtlCol="false" tIns="0" lIns="0" bIns="0" rIns="0">
            <a:spAutoFit/>
          </a:bodyPr>
          <a:lstStyle/>
          <a:p>
            <a:pPr algn="l">
              <a:lnSpc>
                <a:spcPts val="5848"/>
              </a:lnSpc>
            </a:pPr>
            <a:r>
              <a:rPr lang="en-US" sz="6498">
                <a:solidFill>
                  <a:srgbClr val="C1FF72"/>
                </a:solidFill>
                <a:latin typeface="Bicubik"/>
                <a:ea typeface="Bicubik"/>
                <a:cs typeface="Bicubik"/>
                <a:sym typeface="Bicubik"/>
              </a:rPr>
              <a:t>Challenges in Machine Learning</a:t>
            </a:r>
          </a:p>
        </p:txBody>
      </p:sp>
      <p:sp>
        <p:nvSpPr>
          <p:cNvPr name="Freeform 6" id="6"/>
          <p:cNvSpPr/>
          <p:nvPr/>
        </p:nvSpPr>
        <p:spPr>
          <a:xfrm flipH="false" flipV="false" rot="0">
            <a:off x="1028700"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584095">
            <a:off x="12067353" y="5831576"/>
            <a:ext cx="4819203" cy="4819203"/>
            <a:chOff x="0" y="0"/>
            <a:chExt cx="6350000" cy="6350000"/>
          </a:xfrm>
        </p:grpSpPr>
        <p:sp>
          <p:nvSpPr>
            <p:cNvPr name="Freeform 8" id="8"/>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0" t="-25061" r="0" b="-25061"/>
              </a:stretch>
            </a:blipFill>
          </p:spPr>
        </p:sp>
      </p:grpSp>
      <p:sp>
        <p:nvSpPr>
          <p:cNvPr name="Freeform 9" id="9"/>
          <p:cNvSpPr/>
          <p:nvPr/>
        </p:nvSpPr>
        <p:spPr>
          <a:xfrm flipH="false" flipV="false" rot="0">
            <a:off x="13662578" y="5424800"/>
            <a:ext cx="755352" cy="755352"/>
          </a:xfrm>
          <a:custGeom>
            <a:avLst/>
            <a:gdLst/>
            <a:ahLst/>
            <a:cxnLst/>
            <a:rect r="r" b="b" t="t" l="l"/>
            <a:pathLst>
              <a:path h="755352" w="755352">
                <a:moveTo>
                  <a:pt x="0" y="0"/>
                </a:moveTo>
                <a:lnTo>
                  <a:pt x="755352" y="0"/>
                </a:lnTo>
                <a:lnTo>
                  <a:pt x="755352" y="755352"/>
                </a:lnTo>
                <a:lnTo>
                  <a:pt x="0" y="7553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584095">
            <a:off x="7945393" y="7968823"/>
            <a:ext cx="3549878" cy="3549878"/>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16734" t="0" r="-16734" b="0"/>
              </a:stretch>
            </a:blipFill>
          </p:spPr>
        </p:sp>
      </p:grpSp>
      <p:sp>
        <p:nvSpPr>
          <p:cNvPr name="Freeform 12" id="12"/>
          <p:cNvSpPr/>
          <p:nvPr/>
        </p:nvSpPr>
        <p:spPr>
          <a:xfrm flipH="false" flipV="false" rot="0">
            <a:off x="15793181" y="299341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670826" y="6049480"/>
            <a:ext cx="1466119" cy="802367"/>
          </a:xfrm>
          <a:custGeom>
            <a:avLst/>
            <a:gdLst/>
            <a:ahLst/>
            <a:cxnLst/>
            <a:rect r="r" b="b" t="t" l="l"/>
            <a:pathLst>
              <a:path h="802367" w="1466119">
                <a:moveTo>
                  <a:pt x="0" y="0"/>
                </a:moveTo>
                <a:lnTo>
                  <a:pt x="1466120" y="0"/>
                </a:lnTo>
                <a:lnTo>
                  <a:pt x="1466120" y="802367"/>
                </a:lnTo>
                <a:lnTo>
                  <a:pt x="0" y="802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6" id="16"/>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7" id="17"/>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8" id="18"/>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9" id="19"/>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0" id="20"/>
          <p:cNvSpPr txBox="true"/>
          <p:nvPr/>
        </p:nvSpPr>
        <p:spPr>
          <a:xfrm rot="0">
            <a:off x="1028700" y="3382000"/>
            <a:ext cx="2275464"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High-quality datasets are essential for ML models, but issues like missing data, biased samples, and inconsistent labeling can negatively impact performance.</a:t>
            </a:r>
          </a:p>
        </p:txBody>
      </p:sp>
      <p:sp>
        <p:nvSpPr>
          <p:cNvPr name="TextBox 21" id="21"/>
          <p:cNvSpPr txBox="true"/>
          <p:nvPr/>
        </p:nvSpPr>
        <p:spPr>
          <a:xfrm rot="0">
            <a:off x="1028700" y="2964838"/>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Data Quality</a:t>
            </a:r>
          </a:p>
        </p:txBody>
      </p:sp>
      <p:sp>
        <p:nvSpPr>
          <p:cNvPr name="TextBox 22" id="22"/>
          <p:cNvSpPr txBox="true"/>
          <p:nvPr/>
        </p:nvSpPr>
        <p:spPr>
          <a:xfrm rot="0">
            <a:off x="4393738" y="4570168"/>
            <a:ext cx="2275464"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When a model learns too much from training data, it may fail to generalize well to new, unseen data, leading to poor real-world performance.</a:t>
            </a:r>
          </a:p>
        </p:txBody>
      </p:sp>
      <p:sp>
        <p:nvSpPr>
          <p:cNvPr name="TextBox 23" id="23"/>
          <p:cNvSpPr txBox="true"/>
          <p:nvPr/>
        </p:nvSpPr>
        <p:spPr>
          <a:xfrm rot="0">
            <a:off x="4393738" y="4153006"/>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Overfitting</a:t>
            </a:r>
          </a:p>
        </p:txBody>
      </p:sp>
      <p:sp>
        <p:nvSpPr>
          <p:cNvPr name="TextBox 24" id="24"/>
          <p:cNvSpPr txBox="true"/>
          <p:nvPr/>
        </p:nvSpPr>
        <p:spPr>
          <a:xfrm rot="0">
            <a:off x="993431" y="6438067"/>
            <a:ext cx="2275464"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Many ML models, especially deep learning models, act as "black boxes," making it difficult to understand their decision-making process.</a:t>
            </a:r>
          </a:p>
        </p:txBody>
      </p:sp>
      <p:sp>
        <p:nvSpPr>
          <p:cNvPr name="TextBox 25" id="25"/>
          <p:cNvSpPr txBox="true"/>
          <p:nvPr/>
        </p:nvSpPr>
        <p:spPr>
          <a:xfrm rot="0">
            <a:off x="993431" y="6020905"/>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Interpretability</a:t>
            </a:r>
          </a:p>
        </p:txBody>
      </p:sp>
      <p:sp>
        <p:nvSpPr>
          <p:cNvPr name="TextBox 26" id="26"/>
          <p:cNvSpPr txBox="true"/>
          <p:nvPr/>
        </p:nvSpPr>
        <p:spPr>
          <a:xfrm rot="0">
            <a:off x="4393738" y="8026704"/>
            <a:ext cx="2275464"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Bias in data and ML models can lead to discrimination and unfair outcomes, raising ethical and legal concerns about AI deployment.</a:t>
            </a:r>
          </a:p>
        </p:txBody>
      </p:sp>
      <p:sp>
        <p:nvSpPr>
          <p:cNvPr name="TextBox 27" id="27"/>
          <p:cNvSpPr txBox="true"/>
          <p:nvPr/>
        </p:nvSpPr>
        <p:spPr>
          <a:xfrm rot="0">
            <a:off x="4393738" y="7609542"/>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Ethical Concerns</a:t>
            </a:r>
          </a:p>
        </p:txBody>
      </p:sp>
      <p:sp>
        <p:nvSpPr>
          <p:cNvPr name="TextBox 28" id="28"/>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1028700"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4818963"/>
            <a:ext cx="3201659" cy="3128836"/>
            <a:chOff x="0" y="0"/>
            <a:chExt cx="843235" cy="824056"/>
          </a:xfrm>
        </p:grpSpPr>
        <p:sp>
          <p:nvSpPr>
            <p:cNvPr name="Freeform 7" id="7"/>
            <p:cNvSpPr/>
            <p:nvPr/>
          </p:nvSpPr>
          <p:spPr>
            <a:xfrm flipH="false" flipV="false" rot="0">
              <a:off x="0" y="0"/>
              <a:ext cx="843235" cy="824056"/>
            </a:xfrm>
            <a:custGeom>
              <a:avLst/>
              <a:gdLst/>
              <a:ahLst/>
              <a:cxnLst/>
              <a:rect r="r" b="b" t="t" l="l"/>
              <a:pathLst>
                <a:path h="824056" w="843235">
                  <a:moveTo>
                    <a:pt x="0" y="0"/>
                  </a:moveTo>
                  <a:lnTo>
                    <a:pt x="843235" y="0"/>
                  </a:lnTo>
                  <a:lnTo>
                    <a:pt x="843235" y="824056"/>
                  </a:lnTo>
                  <a:lnTo>
                    <a:pt x="0" y="824056"/>
                  </a:lnTo>
                  <a:close/>
                </a:path>
              </a:pathLst>
            </a:custGeom>
            <a:solidFill>
              <a:srgbClr val="1E1E1E"/>
            </a:solidFill>
            <a:ln w="9525" cap="sq">
              <a:solidFill>
                <a:srgbClr val="737373"/>
              </a:solidFill>
              <a:prstDash val="solid"/>
              <a:miter/>
            </a:ln>
          </p:spPr>
        </p:sp>
        <p:sp>
          <p:nvSpPr>
            <p:cNvPr name="TextBox 8" id="8"/>
            <p:cNvSpPr txBox="true"/>
            <p:nvPr/>
          </p:nvSpPr>
          <p:spPr>
            <a:xfrm>
              <a:off x="0" y="47625"/>
              <a:ext cx="843235" cy="776431"/>
            </a:xfrm>
            <a:prstGeom prst="rect">
              <a:avLst/>
            </a:prstGeom>
          </p:spPr>
          <p:txBody>
            <a:bodyPr anchor="ctr" rtlCol="false" tIns="50800" lIns="50800" bIns="50800" rIns="50800"/>
            <a:lstStyle/>
            <a:p>
              <a:pPr algn="ctr">
                <a:lnSpc>
                  <a:spcPts val="1120"/>
                </a:lnSpc>
              </a:pPr>
            </a:p>
          </p:txBody>
        </p:sp>
      </p:grpSp>
      <p:sp>
        <p:nvSpPr>
          <p:cNvPr name="Freeform 9" id="9"/>
          <p:cNvSpPr/>
          <p:nvPr/>
        </p:nvSpPr>
        <p:spPr>
          <a:xfrm flipH="false" flipV="false" rot="0">
            <a:off x="5843251" y="6345451"/>
            <a:ext cx="755352" cy="755352"/>
          </a:xfrm>
          <a:custGeom>
            <a:avLst/>
            <a:gdLst/>
            <a:ahLst/>
            <a:cxnLst/>
            <a:rect r="r" b="b" t="t" l="l"/>
            <a:pathLst>
              <a:path h="755352" w="755352">
                <a:moveTo>
                  <a:pt x="0" y="0"/>
                </a:moveTo>
                <a:lnTo>
                  <a:pt x="755352" y="0"/>
                </a:lnTo>
                <a:lnTo>
                  <a:pt x="755352" y="755352"/>
                </a:lnTo>
                <a:lnTo>
                  <a:pt x="0" y="755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230359" y="8373484"/>
            <a:ext cx="1616773" cy="884816"/>
          </a:xfrm>
          <a:custGeom>
            <a:avLst/>
            <a:gdLst/>
            <a:ahLst/>
            <a:cxnLst/>
            <a:rect r="r" b="b" t="t" l="l"/>
            <a:pathLst>
              <a:path h="884816" w="1616773">
                <a:moveTo>
                  <a:pt x="0" y="0"/>
                </a:moveTo>
                <a:lnTo>
                  <a:pt x="1616773" y="0"/>
                </a:lnTo>
                <a:lnTo>
                  <a:pt x="1616773" y="884816"/>
                </a:lnTo>
                <a:lnTo>
                  <a:pt x="0" y="884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5371680" y="2401385"/>
            <a:ext cx="3201659" cy="3175252"/>
            <a:chOff x="0" y="0"/>
            <a:chExt cx="843235" cy="836280"/>
          </a:xfrm>
        </p:grpSpPr>
        <p:sp>
          <p:nvSpPr>
            <p:cNvPr name="Freeform 12" id="12"/>
            <p:cNvSpPr/>
            <p:nvPr/>
          </p:nvSpPr>
          <p:spPr>
            <a:xfrm flipH="false" flipV="false" rot="0">
              <a:off x="0" y="0"/>
              <a:ext cx="843235" cy="836280"/>
            </a:xfrm>
            <a:custGeom>
              <a:avLst/>
              <a:gdLst/>
              <a:ahLst/>
              <a:cxnLst/>
              <a:rect r="r" b="b" t="t" l="l"/>
              <a:pathLst>
                <a:path h="836280" w="843235">
                  <a:moveTo>
                    <a:pt x="0" y="0"/>
                  </a:moveTo>
                  <a:lnTo>
                    <a:pt x="843235" y="0"/>
                  </a:lnTo>
                  <a:lnTo>
                    <a:pt x="843235" y="836280"/>
                  </a:lnTo>
                  <a:lnTo>
                    <a:pt x="0" y="836280"/>
                  </a:lnTo>
                  <a:close/>
                </a:path>
              </a:pathLst>
            </a:custGeom>
            <a:solidFill>
              <a:srgbClr val="1E1E1E"/>
            </a:solidFill>
            <a:ln w="9525" cap="sq">
              <a:solidFill>
                <a:srgbClr val="737373"/>
              </a:solidFill>
              <a:prstDash val="solid"/>
              <a:miter/>
            </a:ln>
          </p:spPr>
        </p:sp>
        <p:sp>
          <p:nvSpPr>
            <p:cNvPr name="TextBox 13" id="13"/>
            <p:cNvSpPr txBox="true"/>
            <p:nvPr/>
          </p:nvSpPr>
          <p:spPr>
            <a:xfrm>
              <a:off x="0" y="47625"/>
              <a:ext cx="843235" cy="788655"/>
            </a:xfrm>
            <a:prstGeom prst="rect">
              <a:avLst/>
            </a:prstGeom>
          </p:spPr>
          <p:txBody>
            <a:bodyPr anchor="ctr" rtlCol="false" tIns="50800" lIns="50800" bIns="50800" rIns="50800"/>
            <a:lstStyle/>
            <a:p>
              <a:pPr algn="ctr">
                <a:lnSpc>
                  <a:spcPts val="1120"/>
                </a:lnSpc>
              </a:pPr>
            </a:p>
          </p:txBody>
        </p:sp>
      </p:grpSp>
      <p:grpSp>
        <p:nvGrpSpPr>
          <p:cNvPr name="Group 14" id="14"/>
          <p:cNvGrpSpPr/>
          <p:nvPr/>
        </p:nvGrpSpPr>
        <p:grpSpPr>
          <a:xfrm rot="0">
            <a:off x="9714660" y="2427024"/>
            <a:ext cx="3201659" cy="3149612"/>
            <a:chOff x="0" y="0"/>
            <a:chExt cx="843235" cy="829528"/>
          </a:xfrm>
        </p:grpSpPr>
        <p:sp>
          <p:nvSpPr>
            <p:cNvPr name="Freeform 15" id="15"/>
            <p:cNvSpPr/>
            <p:nvPr/>
          </p:nvSpPr>
          <p:spPr>
            <a:xfrm flipH="false" flipV="false" rot="0">
              <a:off x="0" y="0"/>
              <a:ext cx="843235" cy="829528"/>
            </a:xfrm>
            <a:custGeom>
              <a:avLst/>
              <a:gdLst/>
              <a:ahLst/>
              <a:cxnLst/>
              <a:rect r="r" b="b" t="t" l="l"/>
              <a:pathLst>
                <a:path h="829528" w="843235">
                  <a:moveTo>
                    <a:pt x="0" y="0"/>
                  </a:moveTo>
                  <a:lnTo>
                    <a:pt x="843235" y="0"/>
                  </a:lnTo>
                  <a:lnTo>
                    <a:pt x="843235" y="829528"/>
                  </a:lnTo>
                  <a:lnTo>
                    <a:pt x="0" y="829528"/>
                  </a:lnTo>
                  <a:close/>
                </a:path>
              </a:pathLst>
            </a:custGeom>
            <a:solidFill>
              <a:srgbClr val="1E1E1E"/>
            </a:solidFill>
            <a:ln w="9525" cap="sq">
              <a:solidFill>
                <a:srgbClr val="737373"/>
              </a:solidFill>
              <a:prstDash val="solid"/>
              <a:miter/>
            </a:ln>
          </p:spPr>
        </p:sp>
        <p:sp>
          <p:nvSpPr>
            <p:cNvPr name="TextBox 16" id="16"/>
            <p:cNvSpPr txBox="true"/>
            <p:nvPr/>
          </p:nvSpPr>
          <p:spPr>
            <a:xfrm>
              <a:off x="0" y="47625"/>
              <a:ext cx="843235" cy="781903"/>
            </a:xfrm>
            <a:prstGeom prst="rect">
              <a:avLst/>
            </a:prstGeom>
          </p:spPr>
          <p:txBody>
            <a:bodyPr anchor="ctr" rtlCol="false" tIns="50800" lIns="50800" bIns="50800" rIns="50800"/>
            <a:lstStyle/>
            <a:p>
              <a:pPr algn="ctr">
                <a:lnSpc>
                  <a:spcPts val="1120"/>
                </a:lnSpc>
              </a:pPr>
            </a:p>
          </p:txBody>
        </p:sp>
      </p:grpSp>
      <p:grpSp>
        <p:nvGrpSpPr>
          <p:cNvPr name="Group 17" id="17"/>
          <p:cNvGrpSpPr/>
          <p:nvPr/>
        </p:nvGrpSpPr>
        <p:grpSpPr>
          <a:xfrm rot="0">
            <a:off x="14057641" y="2448489"/>
            <a:ext cx="3201659" cy="3128148"/>
            <a:chOff x="0" y="0"/>
            <a:chExt cx="843235" cy="823874"/>
          </a:xfrm>
        </p:grpSpPr>
        <p:sp>
          <p:nvSpPr>
            <p:cNvPr name="Freeform 18" id="18"/>
            <p:cNvSpPr/>
            <p:nvPr/>
          </p:nvSpPr>
          <p:spPr>
            <a:xfrm flipH="false" flipV="false" rot="0">
              <a:off x="0" y="0"/>
              <a:ext cx="843235" cy="823874"/>
            </a:xfrm>
            <a:custGeom>
              <a:avLst/>
              <a:gdLst/>
              <a:ahLst/>
              <a:cxnLst/>
              <a:rect r="r" b="b" t="t" l="l"/>
              <a:pathLst>
                <a:path h="823874" w="843235">
                  <a:moveTo>
                    <a:pt x="0" y="0"/>
                  </a:moveTo>
                  <a:lnTo>
                    <a:pt x="843235" y="0"/>
                  </a:lnTo>
                  <a:lnTo>
                    <a:pt x="843235" y="823874"/>
                  </a:lnTo>
                  <a:lnTo>
                    <a:pt x="0" y="823874"/>
                  </a:lnTo>
                  <a:close/>
                </a:path>
              </a:pathLst>
            </a:custGeom>
            <a:solidFill>
              <a:srgbClr val="1E1E1E"/>
            </a:solidFill>
            <a:ln w="9525" cap="sq">
              <a:solidFill>
                <a:srgbClr val="737373"/>
              </a:solidFill>
              <a:prstDash val="solid"/>
              <a:miter/>
            </a:ln>
          </p:spPr>
        </p:sp>
        <p:sp>
          <p:nvSpPr>
            <p:cNvPr name="TextBox 19" id="19"/>
            <p:cNvSpPr txBox="true"/>
            <p:nvPr/>
          </p:nvSpPr>
          <p:spPr>
            <a:xfrm>
              <a:off x="0" y="47625"/>
              <a:ext cx="843235" cy="776249"/>
            </a:xfrm>
            <a:prstGeom prst="rect">
              <a:avLst/>
            </a:prstGeom>
          </p:spPr>
          <p:txBody>
            <a:bodyPr anchor="ctr" rtlCol="false" tIns="50800" lIns="50800" bIns="50800" rIns="50800"/>
            <a:lstStyle/>
            <a:p>
              <a:pPr algn="ctr">
                <a:lnSpc>
                  <a:spcPts val="1120"/>
                </a:lnSpc>
              </a:pPr>
            </a:p>
          </p:txBody>
        </p:sp>
      </p:grpSp>
      <p:grpSp>
        <p:nvGrpSpPr>
          <p:cNvPr name="Group 20" id="20"/>
          <p:cNvGrpSpPr/>
          <p:nvPr/>
        </p:nvGrpSpPr>
        <p:grpSpPr>
          <a:xfrm rot="578107">
            <a:off x="13204906" y="6671968"/>
            <a:ext cx="3765807" cy="3765807"/>
            <a:chOff x="0" y="0"/>
            <a:chExt cx="6350000" cy="6350000"/>
          </a:xfrm>
        </p:grpSpPr>
        <p:sp>
          <p:nvSpPr>
            <p:cNvPr name="Freeform 21" id="2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8"/>
              <a:stretch>
                <a:fillRect l="-25172" t="0" r="-25172" b="0"/>
              </a:stretch>
            </a:blipFill>
          </p:spPr>
        </p:sp>
      </p:grpSp>
      <p:sp>
        <p:nvSpPr>
          <p:cNvPr name="Freeform 22" id="22"/>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7329387" y="6516901"/>
            <a:ext cx="5124392" cy="3033248"/>
          </a:xfrm>
          <a:prstGeom prst="rect">
            <a:avLst/>
          </a:prstGeom>
        </p:spPr>
        <p:txBody>
          <a:bodyPr anchor="t" rtlCol="false" tIns="0" lIns="0" bIns="0" rIns="0">
            <a:spAutoFit/>
          </a:bodyPr>
          <a:lstStyle/>
          <a:p>
            <a:pPr algn="l">
              <a:lnSpc>
                <a:spcPts val="5848"/>
              </a:lnSpc>
            </a:pPr>
            <a:r>
              <a:rPr lang="en-US" sz="6498">
                <a:solidFill>
                  <a:srgbClr val="C1FF72"/>
                </a:solidFill>
                <a:latin typeface="Bicubik"/>
                <a:ea typeface="Bicubik"/>
                <a:cs typeface="Bicubik"/>
                <a:sym typeface="Bicubik"/>
              </a:rPr>
              <a:t>Future Trends in Machine Learning</a:t>
            </a:r>
          </a:p>
        </p:txBody>
      </p:sp>
      <p:sp>
        <p:nvSpPr>
          <p:cNvPr name="TextBox 24" id="24"/>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5" id="25"/>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6" id="26"/>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7" id="27"/>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8" id="28"/>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9" id="29"/>
          <p:cNvSpPr txBox="true"/>
          <p:nvPr/>
        </p:nvSpPr>
        <p:spPr>
          <a:xfrm rot="0">
            <a:off x="1028700" y="2379399"/>
            <a:ext cx="2275464" cy="824733"/>
          </a:xfrm>
          <a:prstGeom prst="rect">
            <a:avLst/>
          </a:prstGeom>
        </p:spPr>
        <p:txBody>
          <a:bodyPr anchor="t" rtlCol="false" tIns="0" lIns="0" bIns="0" rIns="0">
            <a:spAutoFit/>
          </a:bodyPr>
          <a:lstStyle/>
          <a:p>
            <a:pPr algn="l">
              <a:lnSpc>
                <a:spcPts val="3359"/>
              </a:lnSpc>
            </a:pPr>
            <a:r>
              <a:rPr lang="en-US" sz="2399" spc="-95" b="true">
                <a:solidFill>
                  <a:srgbClr val="D9D9D9"/>
                </a:solidFill>
                <a:latin typeface="Open Sauce Bold"/>
                <a:ea typeface="Open Sauce Bold"/>
                <a:cs typeface="Open Sauce Bold"/>
                <a:sym typeface="Open Sauce Bold"/>
              </a:rPr>
              <a:t>What Lies Ahead?</a:t>
            </a:r>
          </a:p>
        </p:txBody>
      </p:sp>
      <p:sp>
        <p:nvSpPr>
          <p:cNvPr name="TextBox 30" id="30"/>
          <p:cNvSpPr txBox="true"/>
          <p:nvPr/>
        </p:nvSpPr>
        <p:spPr>
          <a:xfrm rot="0">
            <a:off x="1602447" y="5959219"/>
            <a:ext cx="2309159"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 growing focus on making ML models more interpretable and transparent to increase trust and accountability.</a:t>
            </a:r>
          </a:p>
        </p:txBody>
      </p:sp>
      <p:sp>
        <p:nvSpPr>
          <p:cNvPr name="TextBox 31" id="31"/>
          <p:cNvSpPr txBox="true"/>
          <p:nvPr/>
        </p:nvSpPr>
        <p:spPr>
          <a:xfrm rot="0">
            <a:off x="1602447" y="5548062"/>
            <a:ext cx="2309159"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Explainable AI (XAI)</a:t>
            </a:r>
          </a:p>
        </p:txBody>
      </p:sp>
      <p:sp>
        <p:nvSpPr>
          <p:cNvPr name="TextBox 32" id="32"/>
          <p:cNvSpPr txBox="true"/>
          <p:nvPr/>
        </p:nvSpPr>
        <p:spPr>
          <a:xfrm rot="0">
            <a:off x="5847132" y="3688362"/>
            <a:ext cx="2250756"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Federated learning and homomorphic encryption allow ML to operate on sensitive data while ensuring privacy.</a:t>
            </a:r>
          </a:p>
        </p:txBody>
      </p:sp>
      <p:sp>
        <p:nvSpPr>
          <p:cNvPr name="TextBox 33" id="33"/>
          <p:cNvSpPr txBox="true"/>
          <p:nvPr/>
        </p:nvSpPr>
        <p:spPr>
          <a:xfrm rot="0">
            <a:off x="5847132" y="3029489"/>
            <a:ext cx="2250756" cy="488447"/>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Privacy-Preserving Techniques</a:t>
            </a:r>
          </a:p>
        </p:txBody>
      </p:sp>
      <p:sp>
        <p:nvSpPr>
          <p:cNvPr name="TextBox 34" id="34"/>
          <p:cNvSpPr txBox="true"/>
          <p:nvPr/>
        </p:nvSpPr>
        <p:spPr>
          <a:xfrm rot="0">
            <a:off x="10176120" y="3688362"/>
            <a:ext cx="2288880"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Integration of ML into software development to automate coding, debugging, and optimization tasks.</a:t>
            </a:r>
          </a:p>
        </p:txBody>
      </p:sp>
      <p:sp>
        <p:nvSpPr>
          <p:cNvPr name="TextBox 35" id="35"/>
          <p:cNvSpPr txBox="true"/>
          <p:nvPr/>
        </p:nvSpPr>
        <p:spPr>
          <a:xfrm rot="0">
            <a:off x="10165980" y="3029489"/>
            <a:ext cx="2288880" cy="488447"/>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AI-Augmented Software Development</a:t>
            </a:r>
          </a:p>
        </p:txBody>
      </p:sp>
      <p:sp>
        <p:nvSpPr>
          <p:cNvPr name="TextBox 36" id="36"/>
          <p:cNvSpPr txBox="true"/>
          <p:nvPr/>
        </p:nvSpPr>
        <p:spPr>
          <a:xfrm rot="0">
            <a:off x="14503891" y="3480419"/>
            <a:ext cx="2346270"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rise of quantum computing and specialized hardware accelerators will enhance ML capabilities, making it more efficient and powerful.</a:t>
            </a:r>
          </a:p>
        </p:txBody>
      </p:sp>
      <p:sp>
        <p:nvSpPr>
          <p:cNvPr name="TextBox 37" id="37"/>
          <p:cNvSpPr txBox="true"/>
          <p:nvPr/>
        </p:nvSpPr>
        <p:spPr>
          <a:xfrm rot="0">
            <a:off x="14466780" y="3036820"/>
            <a:ext cx="2346270"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Advanced Computing for ML</a:t>
            </a:r>
          </a:p>
        </p:txBody>
      </p:sp>
      <p:sp>
        <p:nvSpPr>
          <p:cNvPr name="TextBox 38" id="38"/>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9151073" y="4771314"/>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84095">
            <a:off x="14854929" y="4355656"/>
            <a:ext cx="2231755" cy="2231755"/>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916" t="0" r="-24916" b="0"/>
              </a:stretch>
            </a:blipFill>
          </p:spPr>
        </p:sp>
      </p:grpSp>
      <p:grpSp>
        <p:nvGrpSpPr>
          <p:cNvPr name="Group 8" id="8"/>
          <p:cNvGrpSpPr/>
          <p:nvPr/>
        </p:nvGrpSpPr>
        <p:grpSpPr>
          <a:xfrm rot="578107">
            <a:off x="9310008" y="1850775"/>
            <a:ext cx="2166257" cy="2166257"/>
            <a:chOff x="0" y="0"/>
            <a:chExt cx="6350000" cy="6350000"/>
          </a:xfrm>
        </p:grpSpPr>
        <p:sp>
          <p:nvSpPr>
            <p:cNvPr name="Freeform 9" id="9"/>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25031" t="0" r="-25031" b="0"/>
              </a:stretch>
            </a:blipFill>
          </p:spPr>
        </p:sp>
      </p:grpSp>
      <p:grpSp>
        <p:nvGrpSpPr>
          <p:cNvPr name="Group 10" id="10"/>
          <p:cNvGrpSpPr/>
          <p:nvPr/>
        </p:nvGrpSpPr>
        <p:grpSpPr>
          <a:xfrm rot="578107">
            <a:off x="9250955" y="6926035"/>
            <a:ext cx="2166257" cy="2166257"/>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6"/>
              <a:stretch>
                <a:fillRect l="-24891" t="0" r="-24891" b="0"/>
              </a:stretch>
            </a:blipFill>
          </p:spPr>
        </p:sp>
      </p:grpSp>
      <p:sp>
        <p:nvSpPr>
          <p:cNvPr name="Freeform 12" id="12"/>
          <p:cNvSpPr/>
          <p:nvPr/>
        </p:nvSpPr>
        <p:spPr>
          <a:xfrm flipH="false" flipV="false" rot="0">
            <a:off x="12063731" y="2206118"/>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2063731" y="7142569"/>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926582" y="6292678"/>
            <a:ext cx="6708666" cy="6708666"/>
            <a:chOff x="0" y="0"/>
            <a:chExt cx="6350000" cy="6350000"/>
          </a:xfrm>
        </p:grpSpPr>
        <p:sp>
          <p:nvSpPr>
            <p:cNvPr name="Freeform 15" id="15"/>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25121" t="0" r="-25121" b="0"/>
              </a:stretch>
            </a:blipFill>
          </p:spPr>
        </p:sp>
      </p:grpSp>
      <p:sp>
        <p:nvSpPr>
          <p:cNvPr name="Freeform 16" id="16"/>
          <p:cNvSpPr/>
          <p:nvPr/>
        </p:nvSpPr>
        <p:spPr>
          <a:xfrm flipH="false" flipV="false" rot="0">
            <a:off x="3813565" y="5825328"/>
            <a:ext cx="934700" cy="934700"/>
          </a:xfrm>
          <a:custGeom>
            <a:avLst/>
            <a:gdLst/>
            <a:ahLst/>
            <a:cxnLst/>
            <a:rect r="r" b="b" t="t" l="l"/>
            <a:pathLst>
              <a:path h="934700" w="934700">
                <a:moveTo>
                  <a:pt x="0" y="0"/>
                </a:moveTo>
                <a:lnTo>
                  <a:pt x="934699" y="0"/>
                </a:lnTo>
                <a:lnTo>
                  <a:pt x="934699" y="934700"/>
                </a:lnTo>
                <a:lnTo>
                  <a:pt x="0" y="9347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993431" y="2563438"/>
            <a:ext cx="6574968" cy="3194586"/>
          </a:xfrm>
          <a:prstGeom prst="rect">
            <a:avLst/>
          </a:prstGeom>
        </p:spPr>
        <p:txBody>
          <a:bodyPr anchor="t" rtlCol="false" tIns="0" lIns="0" bIns="0" rIns="0">
            <a:spAutoFit/>
          </a:bodyPr>
          <a:lstStyle/>
          <a:p>
            <a:pPr algn="l">
              <a:lnSpc>
                <a:spcPts val="8143"/>
              </a:lnSpc>
            </a:pPr>
            <a:r>
              <a:rPr lang="en-US" sz="9047">
                <a:solidFill>
                  <a:srgbClr val="C1FF72"/>
                </a:solidFill>
                <a:latin typeface="Bicubik"/>
                <a:ea typeface="Bicubik"/>
                <a:cs typeface="Bicubik"/>
                <a:sym typeface="Bicubik"/>
              </a:rPr>
              <a:t>Machine Learning in Action</a:t>
            </a:r>
          </a:p>
        </p:txBody>
      </p:sp>
      <p:sp>
        <p:nvSpPr>
          <p:cNvPr name="TextBox 19" id="19"/>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0" id="20"/>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1" id="21"/>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2" id="22"/>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3" id="23"/>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4" id="24"/>
          <p:cNvSpPr txBox="true"/>
          <p:nvPr/>
        </p:nvSpPr>
        <p:spPr>
          <a:xfrm rot="0">
            <a:off x="12063731" y="2877763"/>
            <a:ext cx="5195569" cy="736163"/>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ability of ML models to recognize objects in images has revolutionized various industries, from medical imaging to security surveillance.</a:t>
            </a:r>
          </a:p>
        </p:txBody>
      </p:sp>
      <p:sp>
        <p:nvSpPr>
          <p:cNvPr name="TextBox 25" id="25"/>
          <p:cNvSpPr txBox="true"/>
          <p:nvPr/>
        </p:nvSpPr>
        <p:spPr>
          <a:xfrm rot="0">
            <a:off x="9144000" y="5442959"/>
            <a:ext cx="5195569" cy="736163"/>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 common approach involves training convolutional neural networks (CNNs) on large datasets, allowing the model to identify patterns and features in images.</a:t>
            </a:r>
          </a:p>
        </p:txBody>
      </p:sp>
      <p:sp>
        <p:nvSpPr>
          <p:cNvPr name="TextBox 26" id="26"/>
          <p:cNvSpPr txBox="true"/>
          <p:nvPr/>
        </p:nvSpPr>
        <p:spPr>
          <a:xfrm rot="0">
            <a:off x="12063731" y="7841780"/>
            <a:ext cx="5195569"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process includes data collection, preprocessing, training, validation, and deployment. Once trained, the model can classify objects with high accuracy, assisting professionals in fields like healthcare, autonomous driving, and e-commerce.</a:t>
            </a:r>
          </a:p>
        </p:txBody>
      </p:sp>
      <p:sp>
        <p:nvSpPr>
          <p:cNvPr name="TextBox 27" id="27"/>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grpSp>
        <p:nvGrpSpPr>
          <p:cNvPr name="Group 5" id="5"/>
          <p:cNvGrpSpPr/>
          <p:nvPr/>
        </p:nvGrpSpPr>
        <p:grpSpPr>
          <a:xfrm rot="0">
            <a:off x="1028700" y="2366990"/>
            <a:ext cx="10443808" cy="4687990"/>
            <a:chOff x="0" y="0"/>
            <a:chExt cx="2750633" cy="1234697"/>
          </a:xfrm>
        </p:grpSpPr>
        <p:sp>
          <p:nvSpPr>
            <p:cNvPr name="Freeform 6" id="6"/>
            <p:cNvSpPr/>
            <p:nvPr/>
          </p:nvSpPr>
          <p:spPr>
            <a:xfrm flipH="false" flipV="false" rot="0">
              <a:off x="0" y="0"/>
              <a:ext cx="2750632" cy="1234697"/>
            </a:xfrm>
            <a:custGeom>
              <a:avLst/>
              <a:gdLst/>
              <a:ahLst/>
              <a:cxnLst/>
              <a:rect r="r" b="b" t="t" l="l"/>
              <a:pathLst>
                <a:path h="1234697" w="2750632">
                  <a:moveTo>
                    <a:pt x="0" y="0"/>
                  </a:moveTo>
                  <a:lnTo>
                    <a:pt x="2750632" y="0"/>
                  </a:lnTo>
                  <a:lnTo>
                    <a:pt x="2750632" y="1234697"/>
                  </a:lnTo>
                  <a:lnTo>
                    <a:pt x="0" y="1234697"/>
                  </a:lnTo>
                  <a:close/>
                </a:path>
              </a:pathLst>
            </a:custGeom>
            <a:solidFill>
              <a:srgbClr val="1E1E1E"/>
            </a:solidFill>
            <a:ln w="9525" cap="sq">
              <a:solidFill>
                <a:srgbClr val="737373"/>
              </a:solidFill>
              <a:prstDash val="solid"/>
              <a:miter/>
            </a:ln>
          </p:spPr>
        </p:sp>
        <p:sp>
          <p:nvSpPr>
            <p:cNvPr name="TextBox 7" id="7"/>
            <p:cNvSpPr txBox="true"/>
            <p:nvPr/>
          </p:nvSpPr>
          <p:spPr>
            <a:xfrm>
              <a:off x="0" y="47625"/>
              <a:ext cx="2750633" cy="1187072"/>
            </a:xfrm>
            <a:prstGeom prst="rect">
              <a:avLst/>
            </a:prstGeom>
          </p:spPr>
          <p:txBody>
            <a:bodyPr anchor="ctr" rtlCol="false" tIns="50800" lIns="50800" bIns="50800" rIns="50800"/>
            <a:lstStyle/>
            <a:p>
              <a:pPr algn="ctr">
                <a:lnSpc>
                  <a:spcPts val="1120"/>
                </a:lnSpc>
              </a:pPr>
            </a:p>
          </p:txBody>
        </p:sp>
      </p:grpSp>
      <p:sp>
        <p:nvSpPr>
          <p:cNvPr name="Freeform 8" id="8"/>
          <p:cNvSpPr/>
          <p:nvPr/>
        </p:nvSpPr>
        <p:spPr>
          <a:xfrm flipH="false" flipV="false" rot="0">
            <a:off x="16782521" y="9064756"/>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578107">
            <a:off x="12580147" y="7252737"/>
            <a:ext cx="2580553" cy="2580553"/>
            <a:chOff x="0" y="0"/>
            <a:chExt cx="6350000" cy="6350000"/>
          </a:xfrm>
        </p:grpSpPr>
        <p:sp>
          <p:nvSpPr>
            <p:cNvPr name="Freeform 10" id="1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916" t="0" r="-24916" b="0"/>
              </a:stretch>
            </a:blipFill>
          </p:spPr>
        </p:sp>
      </p:grpSp>
      <p:grpSp>
        <p:nvGrpSpPr>
          <p:cNvPr name="Group 11" id="11"/>
          <p:cNvGrpSpPr/>
          <p:nvPr/>
        </p:nvGrpSpPr>
        <p:grpSpPr>
          <a:xfrm rot="-584095">
            <a:off x="13288140" y="2652090"/>
            <a:ext cx="3686060" cy="3686060"/>
            <a:chOff x="0" y="0"/>
            <a:chExt cx="6350000" cy="6350000"/>
          </a:xfrm>
        </p:grpSpPr>
        <p:sp>
          <p:nvSpPr>
            <p:cNvPr name="Freeform 12" id="12"/>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0" t="-25061" r="0" b="-25061"/>
              </a:stretch>
            </a:blipFill>
          </p:spPr>
        </p:sp>
      </p:grpSp>
      <p:sp>
        <p:nvSpPr>
          <p:cNvPr name="Freeform 13" id="13"/>
          <p:cNvSpPr/>
          <p:nvPr/>
        </p:nvSpPr>
        <p:spPr>
          <a:xfrm flipH="false" flipV="false" rot="0">
            <a:off x="15131170" y="5842150"/>
            <a:ext cx="781100" cy="781100"/>
          </a:xfrm>
          <a:custGeom>
            <a:avLst/>
            <a:gdLst/>
            <a:ahLst/>
            <a:cxnLst/>
            <a:rect r="r" b="b" t="t" l="l"/>
            <a:pathLst>
              <a:path h="781100" w="781100">
                <a:moveTo>
                  <a:pt x="0" y="0"/>
                </a:moveTo>
                <a:lnTo>
                  <a:pt x="781100" y="0"/>
                </a:lnTo>
                <a:lnTo>
                  <a:pt x="781100" y="781100"/>
                </a:lnTo>
                <a:lnTo>
                  <a:pt x="0" y="7811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3993108" y="5493657"/>
            <a:ext cx="1673355" cy="915781"/>
          </a:xfrm>
          <a:custGeom>
            <a:avLst/>
            <a:gdLst/>
            <a:ahLst/>
            <a:cxnLst/>
            <a:rect r="r" b="b" t="t" l="l"/>
            <a:pathLst>
              <a:path h="915781" w="1673355">
                <a:moveTo>
                  <a:pt x="0" y="0"/>
                </a:moveTo>
                <a:lnTo>
                  <a:pt x="1673355" y="0"/>
                </a:lnTo>
                <a:lnTo>
                  <a:pt x="1673355" y="915782"/>
                </a:lnTo>
                <a:lnTo>
                  <a:pt x="0" y="9157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35553" y="3012533"/>
            <a:ext cx="1673355" cy="915781"/>
          </a:xfrm>
          <a:custGeom>
            <a:avLst/>
            <a:gdLst/>
            <a:ahLst/>
            <a:cxnLst/>
            <a:rect r="r" b="b" t="t" l="l"/>
            <a:pathLst>
              <a:path h="915781" w="1673355">
                <a:moveTo>
                  <a:pt x="0" y="0"/>
                </a:moveTo>
                <a:lnTo>
                  <a:pt x="1673355" y="0"/>
                </a:lnTo>
                <a:lnTo>
                  <a:pt x="1673355" y="915781"/>
                </a:lnTo>
                <a:lnTo>
                  <a:pt x="0" y="9157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6450663" y="3012533"/>
            <a:ext cx="1673355" cy="915781"/>
          </a:xfrm>
          <a:custGeom>
            <a:avLst/>
            <a:gdLst/>
            <a:ahLst/>
            <a:cxnLst/>
            <a:rect r="r" b="b" t="t" l="l"/>
            <a:pathLst>
              <a:path h="915781" w="1673355">
                <a:moveTo>
                  <a:pt x="0" y="0"/>
                </a:moveTo>
                <a:lnTo>
                  <a:pt x="1673354" y="0"/>
                </a:lnTo>
                <a:lnTo>
                  <a:pt x="1673354" y="915781"/>
                </a:lnTo>
                <a:lnTo>
                  <a:pt x="0" y="9157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908218" y="5493657"/>
            <a:ext cx="1673355" cy="915781"/>
          </a:xfrm>
          <a:custGeom>
            <a:avLst/>
            <a:gdLst/>
            <a:ahLst/>
            <a:cxnLst/>
            <a:rect r="r" b="b" t="t" l="l"/>
            <a:pathLst>
              <a:path h="915781" w="1673355">
                <a:moveTo>
                  <a:pt x="0" y="0"/>
                </a:moveTo>
                <a:lnTo>
                  <a:pt x="1673354" y="0"/>
                </a:lnTo>
                <a:lnTo>
                  <a:pt x="1673354" y="915782"/>
                </a:lnTo>
                <a:lnTo>
                  <a:pt x="0" y="9157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1028700" y="8076272"/>
            <a:ext cx="10443808" cy="1429478"/>
          </a:xfrm>
          <a:prstGeom prst="rect">
            <a:avLst/>
          </a:prstGeom>
        </p:spPr>
        <p:txBody>
          <a:bodyPr anchor="t" rtlCol="false" tIns="0" lIns="0" bIns="0" rIns="0">
            <a:spAutoFit/>
          </a:bodyPr>
          <a:lstStyle/>
          <a:p>
            <a:pPr algn="l">
              <a:lnSpc>
                <a:spcPts val="10221"/>
              </a:lnSpc>
            </a:pPr>
            <a:r>
              <a:rPr lang="en-US" sz="11357">
                <a:solidFill>
                  <a:srgbClr val="C1FF72"/>
                </a:solidFill>
                <a:latin typeface="Bicubik"/>
                <a:ea typeface="Bicubik"/>
                <a:cs typeface="Bicubik"/>
                <a:sym typeface="Bicubik"/>
              </a:rPr>
              <a:t>Conclusion</a:t>
            </a:r>
          </a:p>
        </p:txBody>
      </p:sp>
      <p:sp>
        <p:nvSpPr>
          <p:cNvPr name="TextBox 20" id="20"/>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1" id="21"/>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2" id="22"/>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3" id="23"/>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4" id="24"/>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5" id="25"/>
          <p:cNvSpPr txBox="true"/>
          <p:nvPr/>
        </p:nvSpPr>
        <p:spPr>
          <a:xfrm rot="0">
            <a:off x="1535553" y="4588502"/>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Machine learning has transformed multiple industries, driving automation, enhancing decision-making, and enabling intelligent systems.</a:t>
            </a:r>
          </a:p>
        </p:txBody>
      </p:sp>
      <p:sp>
        <p:nvSpPr>
          <p:cNvPr name="TextBox 26" id="26"/>
          <p:cNvSpPr txBox="true"/>
          <p:nvPr/>
        </p:nvSpPr>
        <p:spPr>
          <a:xfrm rot="0">
            <a:off x="3993108" y="2983958"/>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With ongoing research and advancements in computing power, the future of ML promises even greater breakthroughs in AI and data science.</a:t>
            </a:r>
          </a:p>
        </p:txBody>
      </p:sp>
      <p:sp>
        <p:nvSpPr>
          <p:cNvPr name="TextBox 27" id="27"/>
          <p:cNvSpPr txBox="true"/>
          <p:nvPr/>
        </p:nvSpPr>
        <p:spPr>
          <a:xfrm rot="0">
            <a:off x="6450663" y="4682411"/>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Ethical considerations, including fairness, transparency, and data privacy, must remain a priority in ML development and deployment.</a:t>
            </a:r>
          </a:p>
        </p:txBody>
      </p:sp>
      <p:sp>
        <p:nvSpPr>
          <p:cNvPr name="TextBox 28" id="28"/>
          <p:cNvSpPr txBox="true"/>
          <p:nvPr/>
        </p:nvSpPr>
        <p:spPr>
          <a:xfrm rot="0">
            <a:off x="8908218" y="2983958"/>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evolution of ML will continue to shape the digital landscape, opening new opportunities for businesses and researchers alike.</a:t>
            </a:r>
          </a:p>
        </p:txBody>
      </p:sp>
      <p:sp>
        <p:nvSpPr>
          <p:cNvPr name="TextBox 29" id="29"/>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grpSp>
        <p:nvGrpSpPr>
          <p:cNvPr name="Group 5" id="5"/>
          <p:cNvGrpSpPr/>
          <p:nvPr/>
        </p:nvGrpSpPr>
        <p:grpSpPr>
          <a:xfrm rot="578107">
            <a:off x="11931383" y="3546342"/>
            <a:ext cx="4948683" cy="4948683"/>
            <a:chOff x="0" y="0"/>
            <a:chExt cx="6350000" cy="6350000"/>
          </a:xfrm>
        </p:grpSpPr>
        <p:sp>
          <p:nvSpPr>
            <p:cNvPr name="Freeform 6" id="6"/>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2"/>
              <a:stretch>
                <a:fillRect l="-24916" t="0" r="-24916" b="0"/>
              </a:stretch>
            </a:blipFill>
          </p:spPr>
        </p:sp>
      </p:grpSp>
      <p:sp>
        <p:nvSpPr>
          <p:cNvPr name="Freeform 7" id="7"/>
          <p:cNvSpPr/>
          <p:nvPr/>
        </p:nvSpPr>
        <p:spPr>
          <a:xfrm flipH="false" flipV="false" rot="0">
            <a:off x="11472508" y="8907350"/>
            <a:ext cx="316219" cy="79055"/>
          </a:xfrm>
          <a:custGeom>
            <a:avLst/>
            <a:gdLst/>
            <a:ahLst/>
            <a:cxnLst/>
            <a:rect r="r" b="b" t="t" l="l"/>
            <a:pathLst>
              <a:path h="79055" w="316219">
                <a:moveTo>
                  <a:pt x="0" y="0"/>
                </a:moveTo>
                <a:lnTo>
                  <a:pt x="316219" y="0"/>
                </a:lnTo>
                <a:lnTo>
                  <a:pt x="316219" y="79054"/>
                </a:lnTo>
                <a:lnTo>
                  <a:pt x="0" y="79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5891596" y="4189941"/>
            <a:ext cx="953559" cy="953559"/>
          </a:xfrm>
          <a:custGeom>
            <a:avLst/>
            <a:gdLst/>
            <a:ahLst/>
            <a:cxnLst/>
            <a:rect r="r" b="b" t="t" l="l"/>
            <a:pathLst>
              <a:path h="953559" w="953559">
                <a:moveTo>
                  <a:pt x="0" y="0"/>
                </a:moveTo>
                <a:lnTo>
                  <a:pt x="953558" y="0"/>
                </a:lnTo>
                <a:lnTo>
                  <a:pt x="953558" y="953559"/>
                </a:lnTo>
                <a:lnTo>
                  <a:pt x="0" y="9535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93431"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028700" y="2911011"/>
            <a:ext cx="10443808" cy="976744"/>
          </a:xfrm>
          <a:prstGeom prst="rect">
            <a:avLst/>
          </a:prstGeom>
        </p:spPr>
        <p:txBody>
          <a:bodyPr anchor="t" rtlCol="false" tIns="0" lIns="0" bIns="0" rIns="0">
            <a:spAutoFit/>
          </a:bodyPr>
          <a:lstStyle/>
          <a:p>
            <a:pPr algn="l">
              <a:lnSpc>
                <a:spcPts val="7086"/>
              </a:lnSpc>
            </a:pPr>
            <a:r>
              <a:rPr lang="en-US" sz="7874">
                <a:solidFill>
                  <a:srgbClr val="C1FF72"/>
                </a:solidFill>
                <a:latin typeface="Bicubik"/>
                <a:ea typeface="Bicubik"/>
                <a:cs typeface="Bicubik"/>
                <a:sym typeface="Bicubik"/>
              </a:rPr>
              <a:t>Introduction</a:t>
            </a:r>
          </a:p>
        </p:txBody>
      </p:sp>
      <p:sp>
        <p:nvSpPr>
          <p:cNvPr name="TextBox 12" id="12"/>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3" id="13"/>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4" id="14"/>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5" id="15"/>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6" id="16"/>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7" id="17"/>
          <p:cNvSpPr txBox="true"/>
          <p:nvPr/>
        </p:nvSpPr>
        <p:spPr>
          <a:xfrm rot="0">
            <a:off x="5726239" y="5114925"/>
            <a:ext cx="3417761"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Machine Learning (ML) is a branch of artificial intelligence that enables computer systems to automatically learn and improve from experience without explicit programming. By analyzing data and recognizing patterns, ML models can make predictions and improve over time.</a:t>
            </a:r>
          </a:p>
        </p:txBody>
      </p:sp>
      <p:sp>
        <p:nvSpPr>
          <p:cNvPr name="TextBox 18" id="18"/>
          <p:cNvSpPr txBox="true"/>
          <p:nvPr/>
        </p:nvSpPr>
        <p:spPr>
          <a:xfrm rot="0">
            <a:off x="5726239" y="7531272"/>
            <a:ext cx="3417761"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ML plays a crucial role in modern technology, powering applications in healthcare, finance, marketing, and various industries. From recommendation systems to fraud detection and autonomous vehicles, ML is transforming the way we interact with technology.</a:t>
            </a:r>
          </a:p>
        </p:txBody>
      </p:sp>
      <p:sp>
        <p:nvSpPr>
          <p:cNvPr name="TextBox 19" id="19"/>
          <p:cNvSpPr txBox="true"/>
          <p:nvPr/>
        </p:nvSpPr>
        <p:spPr>
          <a:xfrm rot="0">
            <a:off x="1028700" y="5095875"/>
            <a:ext cx="3417761" cy="1243767"/>
          </a:xfrm>
          <a:prstGeom prst="rect">
            <a:avLst/>
          </a:prstGeom>
        </p:spPr>
        <p:txBody>
          <a:bodyPr anchor="t" rtlCol="false" tIns="0" lIns="0" bIns="0" rIns="0">
            <a:spAutoFit/>
          </a:bodyPr>
          <a:lstStyle/>
          <a:p>
            <a:pPr algn="l">
              <a:lnSpc>
                <a:spcPts val="3359"/>
              </a:lnSpc>
            </a:pPr>
            <a:r>
              <a:rPr lang="en-US" sz="2400" spc="-96">
                <a:solidFill>
                  <a:srgbClr val="D9D9D9"/>
                </a:solidFill>
                <a:latin typeface="Open Sauce"/>
                <a:ea typeface="Open Sauce"/>
                <a:cs typeface="Open Sauce"/>
                <a:sym typeface="Open Sauce"/>
              </a:rPr>
              <a:t>The Role of Machine Learning in Modern Technology</a:t>
            </a:r>
          </a:p>
        </p:txBody>
      </p:sp>
      <p:sp>
        <p:nvSpPr>
          <p:cNvPr name="TextBox 20" id="20"/>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16782521"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84095">
            <a:off x="1344769" y="6913856"/>
            <a:ext cx="4086467" cy="4086467"/>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891" t="0" r="-24891" b="0"/>
              </a:stretch>
            </a:blipFill>
          </p:spPr>
        </p:sp>
      </p:grpSp>
      <p:sp>
        <p:nvSpPr>
          <p:cNvPr name="TextBox 8" id="8"/>
          <p:cNvSpPr txBox="true"/>
          <p:nvPr/>
        </p:nvSpPr>
        <p:spPr>
          <a:xfrm rot="0">
            <a:off x="1028700" y="2882436"/>
            <a:ext cx="6300687" cy="2574995"/>
          </a:xfrm>
          <a:prstGeom prst="rect">
            <a:avLst/>
          </a:prstGeom>
        </p:spPr>
        <p:txBody>
          <a:bodyPr anchor="t" rtlCol="false" tIns="0" lIns="0" bIns="0" rIns="0">
            <a:spAutoFit/>
          </a:bodyPr>
          <a:lstStyle/>
          <a:p>
            <a:pPr algn="l">
              <a:lnSpc>
                <a:spcPts val="6560"/>
              </a:lnSpc>
            </a:pPr>
            <a:r>
              <a:rPr lang="en-US" sz="7289">
                <a:solidFill>
                  <a:srgbClr val="C1FF72"/>
                </a:solidFill>
                <a:latin typeface="Bicubik"/>
                <a:ea typeface="Bicubik"/>
                <a:cs typeface="Bicubik"/>
                <a:sym typeface="Bicubik"/>
              </a:rPr>
              <a:t>History of Machine Learning</a:t>
            </a:r>
          </a:p>
        </p:txBody>
      </p:sp>
      <p:sp>
        <p:nvSpPr>
          <p:cNvPr name="TextBox 9" id="9"/>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0" id="10"/>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1" id="11"/>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2" id="12"/>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3" id="13"/>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4" id="14"/>
          <p:cNvSpPr txBox="true"/>
          <p:nvPr/>
        </p:nvSpPr>
        <p:spPr>
          <a:xfrm rot="0">
            <a:off x="13841539" y="2663361"/>
            <a:ext cx="3417761"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concept of machines learning from data dates back to early computational theories, where researchers explored how algorithms could improve their performance without direct human intervention.</a:t>
            </a:r>
          </a:p>
        </p:txBody>
      </p:sp>
      <p:sp>
        <p:nvSpPr>
          <p:cNvPr name="TextBox 15" id="15"/>
          <p:cNvSpPr txBox="true"/>
          <p:nvPr/>
        </p:nvSpPr>
        <p:spPr>
          <a:xfrm rot="0">
            <a:off x="10170757" y="4616286"/>
            <a:ext cx="3417761"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Over time, statistical models and algorithms evolved, allowing more efficient learning from structured and unstructured data. The introduction of neural networks marked a significant advancement in ML capabilities.</a:t>
            </a:r>
          </a:p>
        </p:txBody>
      </p:sp>
      <p:sp>
        <p:nvSpPr>
          <p:cNvPr name="Freeform 16" id="16"/>
          <p:cNvSpPr/>
          <p:nvPr/>
        </p:nvSpPr>
        <p:spPr>
          <a:xfrm flipH="false" flipV="false" rot="0">
            <a:off x="15793181" y="4969046"/>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0170757" y="2644311"/>
            <a:ext cx="1823522" cy="1243767"/>
          </a:xfrm>
          <a:prstGeom prst="rect">
            <a:avLst/>
          </a:prstGeom>
        </p:spPr>
        <p:txBody>
          <a:bodyPr anchor="t" rtlCol="false" tIns="0" lIns="0" bIns="0" rIns="0">
            <a:spAutoFit/>
          </a:bodyPr>
          <a:lstStyle/>
          <a:p>
            <a:pPr algn="l">
              <a:lnSpc>
                <a:spcPts val="3359"/>
              </a:lnSpc>
            </a:pPr>
            <a:r>
              <a:rPr lang="en-US" sz="2400" spc="-96">
                <a:solidFill>
                  <a:srgbClr val="C1FF72"/>
                </a:solidFill>
                <a:latin typeface="Open Sauce"/>
                <a:ea typeface="Open Sauce"/>
                <a:cs typeface="Open Sauce"/>
                <a:sym typeface="Open Sauce"/>
              </a:rPr>
              <a:t>Evolution of Machine Learning</a:t>
            </a:r>
          </a:p>
        </p:txBody>
      </p:sp>
      <p:sp>
        <p:nvSpPr>
          <p:cNvPr name="TextBox 18" id="18"/>
          <p:cNvSpPr txBox="true"/>
          <p:nvPr/>
        </p:nvSpPr>
        <p:spPr>
          <a:xfrm rot="0">
            <a:off x="13841539" y="6569211"/>
            <a:ext cx="3417761"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With the advent of large-scale data, improved computational power, and cloud-based infrastructure, ML has become a foundational element of artificial intelligence research.</a:t>
            </a:r>
          </a:p>
        </p:txBody>
      </p:sp>
      <p:sp>
        <p:nvSpPr>
          <p:cNvPr name="TextBox 19" id="19"/>
          <p:cNvSpPr txBox="true"/>
          <p:nvPr/>
        </p:nvSpPr>
        <p:spPr>
          <a:xfrm rot="0">
            <a:off x="10170757" y="8274420"/>
            <a:ext cx="3417761"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Today, deep learning techniques and sophisticated AI models continue to push the boundaries of what machines can achieve.</a:t>
            </a:r>
          </a:p>
        </p:txBody>
      </p:sp>
      <p:grpSp>
        <p:nvGrpSpPr>
          <p:cNvPr name="Group 20" id="20"/>
          <p:cNvGrpSpPr/>
          <p:nvPr/>
        </p:nvGrpSpPr>
        <p:grpSpPr>
          <a:xfrm rot="578107">
            <a:off x="6851897" y="4311761"/>
            <a:ext cx="2123309" cy="2123309"/>
            <a:chOff x="0" y="0"/>
            <a:chExt cx="6350000" cy="6350000"/>
          </a:xfrm>
        </p:grpSpPr>
        <p:sp>
          <p:nvSpPr>
            <p:cNvPr name="Freeform 21" id="2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25172" t="0" r="-25172" b="0"/>
              </a:stretch>
            </a:blipFill>
          </p:spPr>
        </p:sp>
      </p:grpSp>
      <p:sp>
        <p:nvSpPr>
          <p:cNvPr name="Freeform 22" id="22"/>
          <p:cNvSpPr/>
          <p:nvPr/>
        </p:nvSpPr>
        <p:spPr>
          <a:xfrm flipH="false" flipV="false" rot="0">
            <a:off x="4792001" y="8302995"/>
            <a:ext cx="955305" cy="955305"/>
          </a:xfrm>
          <a:custGeom>
            <a:avLst/>
            <a:gdLst/>
            <a:ahLst/>
            <a:cxnLst/>
            <a:rect r="r" b="b" t="t" l="l"/>
            <a:pathLst>
              <a:path h="955305" w="955305">
                <a:moveTo>
                  <a:pt x="0" y="0"/>
                </a:moveTo>
                <a:lnTo>
                  <a:pt x="955305" y="0"/>
                </a:lnTo>
                <a:lnTo>
                  <a:pt x="955305" y="955305"/>
                </a:lnTo>
                <a:lnTo>
                  <a:pt x="0" y="9553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7618828" y="845593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3926924" y="4518899"/>
            <a:ext cx="1673355" cy="915781"/>
          </a:xfrm>
          <a:custGeom>
            <a:avLst/>
            <a:gdLst/>
            <a:ahLst/>
            <a:cxnLst/>
            <a:rect r="r" b="b" t="t" l="l"/>
            <a:pathLst>
              <a:path h="915781" w="1673355">
                <a:moveTo>
                  <a:pt x="0" y="0"/>
                </a:moveTo>
                <a:lnTo>
                  <a:pt x="1673355" y="0"/>
                </a:lnTo>
                <a:lnTo>
                  <a:pt x="1673355" y="915781"/>
                </a:lnTo>
                <a:lnTo>
                  <a:pt x="0" y="9157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84095">
            <a:off x="13092620" y="2367084"/>
            <a:ext cx="3149577" cy="3149577"/>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38871" t="0" r="-38871" b="0"/>
              </a:stretch>
            </a:blipFill>
          </p:spPr>
        </p:sp>
      </p:grpSp>
      <p:sp>
        <p:nvSpPr>
          <p:cNvPr name="Freeform 8" id="8"/>
          <p:cNvSpPr/>
          <p:nvPr/>
        </p:nvSpPr>
        <p:spPr>
          <a:xfrm flipH="false" flipV="false" rot="0">
            <a:off x="15832832" y="3213528"/>
            <a:ext cx="709171" cy="709171"/>
          </a:xfrm>
          <a:custGeom>
            <a:avLst/>
            <a:gdLst/>
            <a:ahLst/>
            <a:cxnLst/>
            <a:rect r="r" b="b" t="t" l="l"/>
            <a:pathLst>
              <a:path h="709171" w="709171">
                <a:moveTo>
                  <a:pt x="0" y="0"/>
                </a:moveTo>
                <a:lnTo>
                  <a:pt x="709171" y="0"/>
                </a:lnTo>
                <a:lnTo>
                  <a:pt x="709171" y="709171"/>
                </a:lnTo>
                <a:lnTo>
                  <a:pt x="0" y="7091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578107">
            <a:off x="8155714" y="7942881"/>
            <a:ext cx="3080709" cy="3080709"/>
            <a:chOff x="0" y="0"/>
            <a:chExt cx="6350000" cy="6350000"/>
          </a:xfrm>
        </p:grpSpPr>
        <p:sp>
          <p:nvSpPr>
            <p:cNvPr name="Freeform 10" id="1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16653" t="0" r="-16653" b="0"/>
              </a:stretch>
            </a:blipFill>
          </p:spPr>
        </p:sp>
      </p:grpSp>
      <p:sp>
        <p:nvSpPr>
          <p:cNvPr name="Freeform 11" id="11"/>
          <p:cNvSpPr/>
          <p:nvPr/>
        </p:nvSpPr>
        <p:spPr>
          <a:xfrm flipH="false" flipV="false" rot="0">
            <a:off x="8481686"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1028700" y="6619701"/>
            <a:ext cx="5970595" cy="2889853"/>
          </a:xfrm>
          <a:prstGeom prst="rect">
            <a:avLst/>
          </a:prstGeom>
        </p:spPr>
        <p:txBody>
          <a:bodyPr anchor="t" rtlCol="false" tIns="0" lIns="0" bIns="0" rIns="0">
            <a:spAutoFit/>
          </a:bodyPr>
          <a:lstStyle/>
          <a:p>
            <a:pPr algn="l">
              <a:lnSpc>
                <a:spcPts val="7352"/>
              </a:lnSpc>
            </a:pPr>
            <a:r>
              <a:rPr lang="en-US" sz="8169">
                <a:solidFill>
                  <a:srgbClr val="C1FF72"/>
                </a:solidFill>
                <a:latin typeface="Bicubik"/>
                <a:ea typeface="Bicubik"/>
                <a:cs typeface="Bicubik"/>
                <a:sym typeface="Bicubik"/>
              </a:rPr>
              <a:t>Types of Machine Learning</a:t>
            </a:r>
          </a:p>
        </p:txBody>
      </p:sp>
      <p:sp>
        <p:nvSpPr>
          <p:cNvPr name="TextBox 14" id="14"/>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5" id="15"/>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6" id="16"/>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7" id="17"/>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8" id="18"/>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9" id="19"/>
          <p:cNvSpPr txBox="true"/>
          <p:nvPr/>
        </p:nvSpPr>
        <p:spPr>
          <a:xfrm rot="0">
            <a:off x="1192413" y="2691104"/>
            <a:ext cx="4407866"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This type of ML uses labeled datasets, where input-output pairs help the model learn and predict outcomes. Examples include regression for continuous predictions and classification for categorical predictions.</a:t>
            </a:r>
          </a:p>
        </p:txBody>
      </p:sp>
      <p:sp>
        <p:nvSpPr>
          <p:cNvPr name="TextBox 20" id="20"/>
          <p:cNvSpPr txBox="true"/>
          <p:nvPr/>
        </p:nvSpPr>
        <p:spPr>
          <a:xfrm rot="0">
            <a:off x="7021923" y="4490324"/>
            <a:ext cx="4407866"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Unsupervised Learning - Unlike supervised learning, this approach works with unlabeled data. The model identifies hidden patterns and structures within the data, such as clustering or dimensionality reduction. Common applications include customer segmentation and anomaly detection.</a:t>
            </a:r>
          </a:p>
        </p:txBody>
      </p:sp>
      <p:sp>
        <p:nvSpPr>
          <p:cNvPr name="TextBox 21" id="21"/>
          <p:cNvSpPr txBox="true"/>
          <p:nvPr/>
        </p:nvSpPr>
        <p:spPr>
          <a:xfrm rot="0">
            <a:off x="12851434" y="8274420"/>
            <a:ext cx="4407866"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Reinforcement Learning - This learning paradigm focuses on decision-making through trial and error, optimizing for maximum reward. It is widely used in robotics, game playing, and real-time decision systems.</a:t>
            </a:r>
          </a:p>
        </p:txBody>
      </p:sp>
      <p:sp>
        <p:nvSpPr>
          <p:cNvPr name="TextBox 22" id="22"/>
          <p:cNvSpPr txBox="true"/>
          <p:nvPr/>
        </p:nvSpPr>
        <p:spPr>
          <a:xfrm rot="0">
            <a:off x="1192413" y="2075854"/>
            <a:ext cx="4407866" cy="405699"/>
          </a:xfrm>
          <a:prstGeom prst="rect">
            <a:avLst/>
          </a:prstGeom>
        </p:spPr>
        <p:txBody>
          <a:bodyPr anchor="t" rtlCol="false" tIns="0" lIns="0" bIns="0" rIns="0">
            <a:spAutoFit/>
          </a:bodyPr>
          <a:lstStyle/>
          <a:p>
            <a:pPr algn="l">
              <a:lnSpc>
                <a:spcPts val="3359"/>
              </a:lnSpc>
            </a:pPr>
            <a:r>
              <a:rPr lang="en-US" sz="2399" spc="-95">
                <a:solidFill>
                  <a:srgbClr val="D9D9D9"/>
                </a:solidFill>
                <a:latin typeface="Open Sauce"/>
                <a:ea typeface="Open Sauce"/>
                <a:cs typeface="Open Sauce"/>
                <a:sym typeface="Open Sauce"/>
              </a:rPr>
              <a:t>Supervised Learning</a:t>
            </a:r>
          </a:p>
        </p:txBody>
      </p:sp>
      <p:sp>
        <p:nvSpPr>
          <p:cNvPr name="TextBox 23" id="23"/>
          <p:cNvSpPr txBox="true"/>
          <p:nvPr/>
        </p:nvSpPr>
        <p:spPr>
          <a:xfrm rot="0">
            <a:off x="7021923" y="3875074"/>
            <a:ext cx="4407866" cy="405699"/>
          </a:xfrm>
          <a:prstGeom prst="rect">
            <a:avLst/>
          </a:prstGeom>
        </p:spPr>
        <p:txBody>
          <a:bodyPr anchor="t" rtlCol="false" tIns="0" lIns="0" bIns="0" rIns="0">
            <a:spAutoFit/>
          </a:bodyPr>
          <a:lstStyle/>
          <a:p>
            <a:pPr algn="l">
              <a:lnSpc>
                <a:spcPts val="3359"/>
              </a:lnSpc>
            </a:pPr>
            <a:r>
              <a:rPr lang="en-US" sz="2399" spc="-95">
                <a:solidFill>
                  <a:srgbClr val="D9D9D9"/>
                </a:solidFill>
                <a:latin typeface="Open Sauce"/>
                <a:ea typeface="Open Sauce"/>
                <a:cs typeface="Open Sauce"/>
                <a:sym typeface="Open Sauce"/>
              </a:rPr>
              <a:t>Unsupervised Learning</a:t>
            </a:r>
          </a:p>
        </p:txBody>
      </p:sp>
      <p:sp>
        <p:nvSpPr>
          <p:cNvPr name="TextBox 24" id="24"/>
          <p:cNvSpPr txBox="true"/>
          <p:nvPr/>
        </p:nvSpPr>
        <p:spPr>
          <a:xfrm rot="0">
            <a:off x="12851434" y="7659171"/>
            <a:ext cx="4407866" cy="405699"/>
          </a:xfrm>
          <a:prstGeom prst="rect">
            <a:avLst/>
          </a:prstGeom>
        </p:spPr>
        <p:txBody>
          <a:bodyPr anchor="t" rtlCol="false" tIns="0" lIns="0" bIns="0" rIns="0">
            <a:spAutoFit/>
          </a:bodyPr>
          <a:lstStyle/>
          <a:p>
            <a:pPr algn="l">
              <a:lnSpc>
                <a:spcPts val="3359"/>
              </a:lnSpc>
            </a:pPr>
            <a:r>
              <a:rPr lang="en-US" sz="2399" spc="-95">
                <a:solidFill>
                  <a:srgbClr val="D9D9D9"/>
                </a:solidFill>
                <a:latin typeface="Open Sauce"/>
                <a:ea typeface="Open Sauce"/>
                <a:cs typeface="Open Sauce"/>
                <a:sym typeface="Open Sauce"/>
              </a:rPr>
              <a:t>Reinforcement Learning</a:t>
            </a:r>
          </a:p>
        </p:txBody>
      </p:sp>
      <p:sp>
        <p:nvSpPr>
          <p:cNvPr name="TextBox 25" id="25"/>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6669202" y="5209273"/>
            <a:ext cx="9518215" cy="2650140"/>
          </a:xfrm>
          <a:prstGeom prst="rect">
            <a:avLst/>
          </a:prstGeom>
        </p:spPr>
        <p:txBody>
          <a:bodyPr anchor="t" rtlCol="false" tIns="0" lIns="0" bIns="0" rIns="0">
            <a:spAutoFit/>
          </a:bodyPr>
          <a:lstStyle/>
          <a:p>
            <a:pPr algn="l">
              <a:lnSpc>
                <a:spcPts val="6761"/>
              </a:lnSpc>
            </a:pPr>
            <a:r>
              <a:rPr lang="en-US" sz="7512">
                <a:solidFill>
                  <a:srgbClr val="C1FF72"/>
                </a:solidFill>
                <a:latin typeface="Bicubik"/>
                <a:ea typeface="Bicubik"/>
                <a:cs typeface="Bicubik"/>
                <a:sym typeface="Bicubik"/>
              </a:rPr>
              <a:t>Key Algorithms in Machine Learning</a:t>
            </a:r>
          </a:p>
        </p:txBody>
      </p:sp>
      <p:sp>
        <p:nvSpPr>
          <p:cNvPr name="Freeform 6" id="6"/>
          <p:cNvSpPr/>
          <p:nvPr/>
        </p:nvSpPr>
        <p:spPr>
          <a:xfrm flipH="false" flipV="false" rot="0">
            <a:off x="6669202" y="8342519"/>
            <a:ext cx="1673355" cy="915781"/>
          </a:xfrm>
          <a:custGeom>
            <a:avLst/>
            <a:gdLst/>
            <a:ahLst/>
            <a:cxnLst/>
            <a:rect r="r" b="b" t="t" l="l"/>
            <a:pathLst>
              <a:path h="915781" w="1673355">
                <a:moveTo>
                  <a:pt x="0" y="0"/>
                </a:moveTo>
                <a:lnTo>
                  <a:pt x="1673355" y="0"/>
                </a:lnTo>
                <a:lnTo>
                  <a:pt x="1673355" y="915781"/>
                </a:lnTo>
                <a:lnTo>
                  <a:pt x="0" y="9157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584095">
            <a:off x="13270669" y="7503229"/>
            <a:ext cx="3818992" cy="3818992"/>
            <a:chOff x="0" y="0"/>
            <a:chExt cx="6350000" cy="6350000"/>
          </a:xfrm>
        </p:grpSpPr>
        <p:sp>
          <p:nvSpPr>
            <p:cNvPr name="Freeform 8" id="8"/>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916" t="0" r="-24916" b="0"/>
              </a:stretch>
            </a:blipFill>
          </p:spPr>
        </p:sp>
      </p:grpSp>
      <p:sp>
        <p:nvSpPr>
          <p:cNvPr name="Freeform 9" id="9"/>
          <p:cNvSpPr/>
          <p:nvPr/>
        </p:nvSpPr>
        <p:spPr>
          <a:xfrm flipH="false" flipV="false" rot="0">
            <a:off x="16550129" y="7987933"/>
            <a:ext cx="709171" cy="709171"/>
          </a:xfrm>
          <a:custGeom>
            <a:avLst/>
            <a:gdLst/>
            <a:ahLst/>
            <a:cxnLst/>
            <a:rect r="r" b="b" t="t" l="l"/>
            <a:pathLst>
              <a:path h="709171" w="709171">
                <a:moveTo>
                  <a:pt x="0" y="0"/>
                </a:moveTo>
                <a:lnTo>
                  <a:pt x="709171" y="0"/>
                </a:lnTo>
                <a:lnTo>
                  <a:pt x="709171" y="709171"/>
                </a:lnTo>
                <a:lnTo>
                  <a:pt x="0" y="7091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28700" y="5009248"/>
            <a:ext cx="4249052" cy="4249052"/>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16653" t="0" r="-16653" b="0"/>
              </a:stretch>
            </a:blipFill>
          </p:spPr>
        </p:sp>
      </p:grpSp>
      <p:sp>
        <p:nvSpPr>
          <p:cNvPr name="Freeform 12" id="12"/>
          <p:cNvSpPr/>
          <p:nvPr/>
        </p:nvSpPr>
        <p:spPr>
          <a:xfrm flipH="false" flipV="false" rot="0">
            <a:off x="2914836" y="8697104"/>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5" id="15"/>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6" id="16"/>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7" id="17"/>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8" id="18"/>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19" id="19"/>
          <p:cNvSpPr txBox="true"/>
          <p:nvPr/>
        </p:nvSpPr>
        <p:spPr>
          <a:xfrm rot="0">
            <a:off x="1031908" y="2775170"/>
            <a:ext cx="2665717" cy="736163"/>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Used for predicting continuous values, such as stock prices and temperature forecasting.</a:t>
            </a:r>
          </a:p>
        </p:txBody>
      </p:sp>
      <p:sp>
        <p:nvSpPr>
          <p:cNvPr name="TextBox 20" id="20"/>
          <p:cNvSpPr txBox="true"/>
          <p:nvPr/>
        </p:nvSpPr>
        <p:spPr>
          <a:xfrm rot="0">
            <a:off x="1031908"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Regression Models</a:t>
            </a:r>
          </a:p>
        </p:txBody>
      </p:sp>
      <p:sp>
        <p:nvSpPr>
          <p:cNvPr name="TextBox 21" id="21"/>
          <p:cNvSpPr txBox="true"/>
          <p:nvPr/>
        </p:nvSpPr>
        <p:spPr>
          <a:xfrm rot="0">
            <a:off x="4423129" y="2775170"/>
            <a:ext cx="2665717"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 rule-based model that splits data into different categories for classification and decision-making.</a:t>
            </a:r>
          </a:p>
        </p:txBody>
      </p:sp>
      <p:sp>
        <p:nvSpPr>
          <p:cNvPr name="TextBox 22" id="22"/>
          <p:cNvSpPr txBox="true"/>
          <p:nvPr/>
        </p:nvSpPr>
        <p:spPr>
          <a:xfrm rot="0">
            <a:off x="4423129"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Decision Trees</a:t>
            </a:r>
          </a:p>
        </p:txBody>
      </p:sp>
      <p:sp>
        <p:nvSpPr>
          <p:cNvPr name="TextBox 23" id="23"/>
          <p:cNvSpPr txBox="true"/>
          <p:nvPr/>
        </p:nvSpPr>
        <p:spPr>
          <a:xfrm rot="0">
            <a:off x="7814350" y="2775170"/>
            <a:ext cx="2665717"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Methods such as k-Nearest Neighbors (k-NN) and Support Vector Machines (SVM) help categorize data points into predefined classes.</a:t>
            </a:r>
          </a:p>
        </p:txBody>
      </p:sp>
      <p:sp>
        <p:nvSpPr>
          <p:cNvPr name="TextBox 24" id="24"/>
          <p:cNvSpPr txBox="true"/>
          <p:nvPr/>
        </p:nvSpPr>
        <p:spPr>
          <a:xfrm rot="0">
            <a:off x="7814350"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Classification Techniques</a:t>
            </a:r>
          </a:p>
        </p:txBody>
      </p:sp>
      <p:sp>
        <p:nvSpPr>
          <p:cNvPr name="TextBox 25" id="25"/>
          <p:cNvSpPr txBox="true"/>
          <p:nvPr/>
        </p:nvSpPr>
        <p:spPr>
          <a:xfrm rot="0">
            <a:off x="11203967" y="3022886"/>
            <a:ext cx="2665717"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Mimic the human brain structure to process complex data and recognize patterns in images, speech, and text.</a:t>
            </a:r>
          </a:p>
        </p:txBody>
      </p:sp>
      <p:sp>
        <p:nvSpPr>
          <p:cNvPr name="TextBox 26" id="26"/>
          <p:cNvSpPr txBox="true"/>
          <p:nvPr/>
        </p:nvSpPr>
        <p:spPr>
          <a:xfrm rot="0">
            <a:off x="11203967" y="2358008"/>
            <a:ext cx="2665717" cy="488447"/>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Neural Networks &amp; Deep Learning:</a:t>
            </a:r>
          </a:p>
        </p:txBody>
      </p:sp>
      <p:sp>
        <p:nvSpPr>
          <p:cNvPr name="TextBox 27" id="27"/>
          <p:cNvSpPr txBox="true"/>
          <p:nvPr/>
        </p:nvSpPr>
        <p:spPr>
          <a:xfrm rot="0">
            <a:off x="14593583" y="2775170"/>
            <a:ext cx="2665717"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Algorithms such as k-Means and hierarchical clustering help group similar data points based on their attributes.</a:t>
            </a:r>
          </a:p>
        </p:txBody>
      </p:sp>
      <p:sp>
        <p:nvSpPr>
          <p:cNvPr name="TextBox 28" id="28"/>
          <p:cNvSpPr txBox="true"/>
          <p:nvPr/>
        </p:nvSpPr>
        <p:spPr>
          <a:xfrm rot="0">
            <a:off x="14593583" y="2358008"/>
            <a:ext cx="2665717"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Clustering Methods</a:t>
            </a:r>
          </a:p>
        </p:txBody>
      </p:sp>
      <p:sp>
        <p:nvSpPr>
          <p:cNvPr name="TextBox 29" id="29"/>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10170757" y="2924232"/>
            <a:ext cx="7088543" cy="2418235"/>
          </a:xfrm>
          <a:prstGeom prst="rect">
            <a:avLst/>
          </a:prstGeom>
        </p:spPr>
        <p:txBody>
          <a:bodyPr anchor="t" rtlCol="false" tIns="0" lIns="0" bIns="0" rIns="0">
            <a:spAutoFit/>
          </a:bodyPr>
          <a:lstStyle/>
          <a:p>
            <a:pPr algn="l">
              <a:lnSpc>
                <a:spcPts val="6165"/>
              </a:lnSpc>
            </a:pPr>
            <a:r>
              <a:rPr lang="en-US" sz="6850">
                <a:solidFill>
                  <a:srgbClr val="C1FF72"/>
                </a:solidFill>
                <a:latin typeface="Bicubik"/>
                <a:ea typeface="Bicubik"/>
                <a:cs typeface="Bicubik"/>
                <a:sym typeface="Bicubik"/>
              </a:rPr>
              <a:t>Applications of Machine Learning</a:t>
            </a:r>
          </a:p>
        </p:txBody>
      </p:sp>
      <p:grpSp>
        <p:nvGrpSpPr>
          <p:cNvPr name="Group 6" id="6"/>
          <p:cNvGrpSpPr/>
          <p:nvPr/>
        </p:nvGrpSpPr>
        <p:grpSpPr>
          <a:xfrm rot="578107">
            <a:off x="5805725" y="2229150"/>
            <a:ext cx="2706911" cy="2706911"/>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2"/>
              <a:stretch>
                <a:fillRect l="-25121" t="0" r="-25121" b="0"/>
              </a:stretch>
            </a:blipFill>
          </p:spPr>
        </p:sp>
      </p:grpSp>
      <p:sp>
        <p:nvSpPr>
          <p:cNvPr name="Freeform 8" id="8"/>
          <p:cNvSpPr/>
          <p:nvPr/>
        </p:nvSpPr>
        <p:spPr>
          <a:xfrm flipH="false" flipV="false" rot="0">
            <a:off x="16782521" y="50243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1050457" y="6048889"/>
            <a:ext cx="3634704" cy="3209411"/>
            <a:chOff x="0" y="0"/>
            <a:chExt cx="957288" cy="845277"/>
          </a:xfrm>
        </p:grpSpPr>
        <p:sp>
          <p:nvSpPr>
            <p:cNvPr name="Freeform 10" id="10"/>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11" id="11"/>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grpSp>
        <p:nvGrpSpPr>
          <p:cNvPr name="Group 12" id="12"/>
          <p:cNvGrpSpPr/>
          <p:nvPr/>
        </p:nvGrpSpPr>
        <p:grpSpPr>
          <a:xfrm rot="0">
            <a:off x="1028700" y="2021710"/>
            <a:ext cx="3121790" cy="3121790"/>
            <a:chOff x="0" y="0"/>
            <a:chExt cx="6350000" cy="6350000"/>
          </a:xfrm>
        </p:grpSpPr>
        <p:sp>
          <p:nvSpPr>
            <p:cNvPr name="Freeform 13" id="13"/>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25031" t="0" r="-25031" b="0"/>
              </a:stretch>
            </a:blipFill>
          </p:spPr>
        </p:sp>
      </p:grpSp>
      <p:sp>
        <p:nvSpPr>
          <p:cNvPr name="Freeform 14" id="14"/>
          <p:cNvSpPr/>
          <p:nvPr/>
        </p:nvSpPr>
        <p:spPr>
          <a:xfrm flipH="false" flipV="false" rot="0">
            <a:off x="5243700" y="2743257"/>
            <a:ext cx="839348" cy="839348"/>
          </a:xfrm>
          <a:custGeom>
            <a:avLst/>
            <a:gdLst/>
            <a:ahLst/>
            <a:cxnLst/>
            <a:rect r="r" b="b" t="t" l="l"/>
            <a:pathLst>
              <a:path h="839348" w="839348">
                <a:moveTo>
                  <a:pt x="0" y="0"/>
                </a:moveTo>
                <a:lnTo>
                  <a:pt x="839347" y="0"/>
                </a:lnTo>
                <a:lnTo>
                  <a:pt x="839347" y="839348"/>
                </a:lnTo>
                <a:lnTo>
                  <a:pt x="0" y="8393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5" id="15"/>
          <p:cNvGrpSpPr/>
          <p:nvPr/>
        </p:nvGrpSpPr>
        <p:grpSpPr>
          <a:xfrm rot="0">
            <a:off x="1292468" y="3582605"/>
            <a:ext cx="2594254" cy="1377642"/>
            <a:chOff x="0" y="0"/>
            <a:chExt cx="683260" cy="362836"/>
          </a:xfrm>
        </p:grpSpPr>
        <p:sp>
          <p:nvSpPr>
            <p:cNvPr name="Freeform 16" id="16"/>
            <p:cNvSpPr/>
            <p:nvPr/>
          </p:nvSpPr>
          <p:spPr>
            <a:xfrm flipH="false" flipV="false" rot="0">
              <a:off x="0" y="0"/>
              <a:ext cx="683260" cy="362836"/>
            </a:xfrm>
            <a:custGeom>
              <a:avLst/>
              <a:gdLst/>
              <a:ahLst/>
              <a:cxnLst/>
              <a:rect r="r" b="b" t="t" l="l"/>
              <a:pathLst>
                <a:path h="362836" w="683260">
                  <a:moveTo>
                    <a:pt x="0" y="0"/>
                  </a:moveTo>
                  <a:lnTo>
                    <a:pt x="683260" y="0"/>
                  </a:lnTo>
                  <a:lnTo>
                    <a:pt x="683260" y="362836"/>
                  </a:lnTo>
                  <a:lnTo>
                    <a:pt x="0" y="362836"/>
                  </a:lnTo>
                  <a:close/>
                </a:path>
              </a:pathLst>
            </a:custGeom>
            <a:solidFill>
              <a:srgbClr val="1E1E1E"/>
            </a:solidFill>
            <a:ln w="9525" cap="sq">
              <a:solidFill>
                <a:srgbClr val="737373"/>
              </a:solidFill>
              <a:prstDash val="solid"/>
              <a:miter/>
            </a:ln>
          </p:spPr>
        </p:sp>
        <p:sp>
          <p:nvSpPr>
            <p:cNvPr name="TextBox 17" id="17"/>
            <p:cNvSpPr txBox="true"/>
            <p:nvPr/>
          </p:nvSpPr>
          <p:spPr>
            <a:xfrm>
              <a:off x="0" y="47625"/>
              <a:ext cx="683260" cy="315211"/>
            </a:xfrm>
            <a:prstGeom prst="rect">
              <a:avLst/>
            </a:prstGeom>
          </p:spPr>
          <p:txBody>
            <a:bodyPr anchor="ctr" rtlCol="false" tIns="50800" lIns="50800" bIns="50800" rIns="50800"/>
            <a:lstStyle/>
            <a:p>
              <a:pPr algn="ctr">
                <a:lnSpc>
                  <a:spcPts val="1120"/>
                </a:lnSpc>
              </a:pPr>
            </a:p>
          </p:txBody>
        </p:sp>
      </p:grpSp>
      <p:grpSp>
        <p:nvGrpSpPr>
          <p:cNvPr name="Group 18" id="18"/>
          <p:cNvGrpSpPr/>
          <p:nvPr/>
        </p:nvGrpSpPr>
        <p:grpSpPr>
          <a:xfrm rot="0">
            <a:off x="9243310" y="6048889"/>
            <a:ext cx="3634704" cy="3209411"/>
            <a:chOff x="0" y="0"/>
            <a:chExt cx="957288" cy="845277"/>
          </a:xfrm>
        </p:grpSpPr>
        <p:sp>
          <p:nvSpPr>
            <p:cNvPr name="Freeform 19" id="19"/>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20" id="20"/>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grpSp>
        <p:nvGrpSpPr>
          <p:cNvPr name="Group 21" id="21"/>
          <p:cNvGrpSpPr/>
          <p:nvPr/>
        </p:nvGrpSpPr>
        <p:grpSpPr>
          <a:xfrm rot="0">
            <a:off x="5243700" y="6048889"/>
            <a:ext cx="3634704" cy="3209411"/>
            <a:chOff x="0" y="0"/>
            <a:chExt cx="957288" cy="845277"/>
          </a:xfrm>
        </p:grpSpPr>
        <p:sp>
          <p:nvSpPr>
            <p:cNvPr name="Freeform 22" id="22"/>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23" id="23"/>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grpSp>
        <p:nvGrpSpPr>
          <p:cNvPr name="Group 24" id="24"/>
          <p:cNvGrpSpPr/>
          <p:nvPr/>
        </p:nvGrpSpPr>
        <p:grpSpPr>
          <a:xfrm rot="0">
            <a:off x="13833004" y="6048889"/>
            <a:ext cx="3634704" cy="3209411"/>
            <a:chOff x="0" y="0"/>
            <a:chExt cx="957288" cy="845277"/>
          </a:xfrm>
        </p:grpSpPr>
        <p:sp>
          <p:nvSpPr>
            <p:cNvPr name="Freeform 25" id="25"/>
            <p:cNvSpPr/>
            <p:nvPr/>
          </p:nvSpPr>
          <p:spPr>
            <a:xfrm flipH="false" flipV="false" rot="0">
              <a:off x="0" y="0"/>
              <a:ext cx="957288" cy="845277"/>
            </a:xfrm>
            <a:custGeom>
              <a:avLst/>
              <a:gdLst/>
              <a:ahLst/>
              <a:cxnLst/>
              <a:rect r="r" b="b" t="t" l="l"/>
              <a:pathLst>
                <a:path h="845277" w="957288">
                  <a:moveTo>
                    <a:pt x="0" y="0"/>
                  </a:moveTo>
                  <a:lnTo>
                    <a:pt x="957288" y="0"/>
                  </a:lnTo>
                  <a:lnTo>
                    <a:pt x="957288" y="845277"/>
                  </a:lnTo>
                  <a:lnTo>
                    <a:pt x="0" y="845277"/>
                  </a:lnTo>
                  <a:close/>
                </a:path>
              </a:pathLst>
            </a:custGeom>
            <a:solidFill>
              <a:srgbClr val="1E1E1E"/>
            </a:solidFill>
            <a:ln w="9525" cap="sq">
              <a:solidFill>
                <a:srgbClr val="737373"/>
              </a:solidFill>
              <a:prstDash val="solid"/>
              <a:miter/>
            </a:ln>
          </p:spPr>
        </p:sp>
        <p:sp>
          <p:nvSpPr>
            <p:cNvPr name="TextBox 26" id="26"/>
            <p:cNvSpPr txBox="true"/>
            <p:nvPr/>
          </p:nvSpPr>
          <p:spPr>
            <a:xfrm>
              <a:off x="0" y="47625"/>
              <a:ext cx="957288" cy="797652"/>
            </a:xfrm>
            <a:prstGeom prst="rect">
              <a:avLst/>
            </a:prstGeom>
          </p:spPr>
          <p:txBody>
            <a:bodyPr anchor="ctr" rtlCol="false" tIns="50800" lIns="50800" bIns="50800" rIns="50800"/>
            <a:lstStyle/>
            <a:p>
              <a:pPr algn="ctr">
                <a:lnSpc>
                  <a:spcPts val="1120"/>
                </a:lnSpc>
              </a:pPr>
            </a:p>
          </p:txBody>
        </p:sp>
      </p:grpSp>
      <p:sp>
        <p:nvSpPr>
          <p:cNvPr name="Freeform 27" id="27"/>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8" id="28"/>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9" id="29"/>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30" id="30"/>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31" id="31"/>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32" id="32"/>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33" id="33"/>
          <p:cNvSpPr txBox="true"/>
          <p:nvPr/>
        </p:nvSpPr>
        <p:spPr>
          <a:xfrm rot="0">
            <a:off x="1465527" y="6984374"/>
            <a:ext cx="2804564"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Machine learning aids in medical diagnosis, personalized treatment plans, and predictive analytics for disease prevention. It helps doctors analyze vast amounts of medical data to detect patterns in patient health conditions.</a:t>
            </a:r>
          </a:p>
        </p:txBody>
      </p:sp>
      <p:sp>
        <p:nvSpPr>
          <p:cNvPr name="TextBox 34" id="34"/>
          <p:cNvSpPr txBox="true"/>
          <p:nvPr/>
        </p:nvSpPr>
        <p:spPr>
          <a:xfrm rot="0">
            <a:off x="1465527" y="6567212"/>
            <a:ext cx="28045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Healthcare</a:t>
            </a:r>
          </a:p>
        </p:txBody>
      </p:sp>
      <p:sp>
        <p:nvSpPr>
          <p:cNvPr name="TextBox 35" id="35"/>
          <p:cNvSpPr txBox="true"/>
          <p:nvPr/>
        </p:nvSpPr>
        <p:spPr>
          <a:xfrm rot="0">
            <a:off x="1292468" y="3835247"/>
            <a:ext cx="2594254" cy="824733"/>
          </a:xfrm>
          <a:prstGeom prst="rect">
            <a:avLst/>
          </a:prstGeom>
        </p:spPr>
        <p:txBody>
          <a:bodyPr anchor="t" rtlCol="false" tIns="0" lIns="0" bIns="0" rIns="0">
            <a:spAutoFit/>
          </a:bodyPr>
          <a:lstStyle/>
          <a:p>
            <a:pPr algn="ctr">
              <a:lnSpc>
                <a:spcPts val="3359"/>
              </a:lnSpc>
            </a:pPr>
            <a:r>
              <a:rPr lang="en-US" b="true" sz="2399" spc="-95">
                <a:solidFill>
                  <a:srgbClr val="D9D9D9"/>
                </a:solidFill>
                <a:latin typeface="Open Sauce Bold"/>
                <a:ea typeface="Open Sauce Bold"/>
                <a:cs typeface="Open Sauce Bold"/>
                <a:sym typeface="Open Sauce Bold"/>
              </a:rPr>
              <a:t>Real-World Applications</a:t>
            </a:r>
          </a:p>
        </p:txBody>
      </p:sp>
      <p:sp>
        <p:nvSpPr>
          <p:cNvPr name="TextBox 36" id="36"/>
          <p:cNvSpPr txBox="true"/>
          <p:nvPr/>
        </p:nvSpPr>
        <p:spPr>
          <a:xfrm rot="0">
            <a:off x="9658380" y="6984374"/>
            <a:ext cx="2804564"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Personalized recommendation engines analyze user behavior to provide targeted advertisements and content. Companies use ML for customer segmentation, improving sales strategies and customer engagement.</a:t>
            </a:r>
          </a:p>
        </p:txBody>
      </p:sp>
      <p:sp>
        <p:nvSpPr>
          <p:cNvPr name="TextBox 37" id="37"/>
          <p:cNvSpPr txBox="true"/>
          <p:nvPr/>
        </p:nvSpPr>
        <p:spPr>
          <a:xfrm rot="0">
            <a:off x="9658380" y="6567212"/>
            <a:ext cx="28045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Marketing</a:t>
            </a:r>
          </a:p>
        </p:txBody>
      </p:sp>
      <p:sp>
        <p:nvSpPr>
          <p:cNvPr name="TextBox 38" id="38"/>
          <p:cNvSpPr txBox="true"/>
          <p:nvPr/>
        </p:nvSpPr>
        <p:spPr>
          <a:xfrm rot="0">
            <a:off x="5765394" y="7232090"/>
            <a:ext cx="2787572"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Banks and financial institutions use ML for fraud detection, credit scoring, and algorithmic trading. Predictive analytics help prevent financial risks and assess customer creditworthiness.</a:t>
            </a:r>
          </a:p>
        </p:txBody>
      </p:sp>
      <p:sp>
        <p:nvSpPr>
          <p:cNvPr name="TextBox 39" id="39"/>
          <p:cNvSpPr txBox="true"/>
          <p:nvPr/>
        </p:nvSpPr>
        <p:spPr>
          <a:xfrm rot="0">
            <a:off x="5765394" y="6567212"/>
            <a:ext cx="2787572"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Finance</a:t>
            </a:r>
          </a:p>
        </p:txBody>
      </p:sp>
      <p:sp>
        <p:nvSpPr>
          <p:cNvPr name="TextBox 40" id="40"/>
          <p:cNvSpPr txBox="true"/>
          <p:nvPr/>
        </p:nvSpPr>
        <p:spPr>
          <a:xfrm rot="0">
            <a:off x="14216346" y="7727522"/>
            <a:ext cx="2804564"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Self-operating robots and self-driving vehicles rely on ML models to navigate, detect objects, and make real-time decisions.</a:t>
            </a:r>
          </a:p>
        </p:txBody>
      </p:sp>
      <p:sp>
        <p:nvSpPr>
          <p:cNvPr name="TextBox 41" id="41"/>
          <p:cNvSpPr txBox="true"/>
          <p:nvPr/>
        </p:nvSpPr>
        <p:spPr>
          <a:xfrm rot="0">
            <a:off x="14248074" y="6567212"/>
            <a:ext cx="28045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Autonomous Systems</a:t>
            </a:r>
          </a:p>
        </p:txBody>
      </p:sp>
      <p:sp>
        <p:nvSpPr>
          <p:cNvPr name="TextBox 42" id="42"/>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7694260" y="3164863"/>
            <a:ext cx="6723671" cy="2293970"/>
          </a:xfrm>
          <a:prstGeom prst="rect">
            <a:avLst/>
          </a:prstGeom>
        </p:spPr>
        <p:txBody>
          <a:bodyPr anchor="t" rtlCol="false" tIns="0" lIns="0" bIns="0" rIns="0">
            <a:spAutoFit/>
          </a:bodyPr>
          <a:lstStyle/>
          <a:p>
            <a:pPr algn="l">
              <a:lnSpc>
                <a:spcPts val="5848"/>
              </a:lnSpc>
            </a:pPr>
            <a:r>
              <a:rPr lang="en-US" sz="6498">
                <a:solidFill>
                  <a:srgbClr val="C1FF72"/>
                </a:solidFill>
                <a:latin typeface="Bicubik"/>
                <a:ea typeface="Bicubik"/>
                <a:cs typeface="Bicubik"/>
                <a:sym typeface="Bicubik"/>
              </a:rPr>
              <a:t>Challenges in Machine Learning</a:t>
            </a:r>
          </a:p>
        </p:txBody>
      </p:sp>
      <p:sp>
        <p:nvSpPr>
          <p:cNvPr name="Freeform 6" id="6"/>
          <p:cNvSpPr/>
          <p:nvPr/>
        </p:nvSpPr>
        <p:spPr>
          <a:xfrm flipH="false" flipV="false" rot="0">
            <a:off x="1028700"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584095">
            <a:off x="12067353" y="5831576"/>
            <a:ext cx="4819203" cy="4819203"/>
            <a:chOff x="0" y="0"/>
            <a:chExt cx="6350000" cy="6350000"/>
          </a:xfrm>
        </p:grpSpPr>
        <p:sp>
          <p:nvSpPr>
            <p:cNvPr name="Freeform 8" id="8"/>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0" t="-25061" r="0" b="-25061"/>
              </a:stretch>
            </a:blipFill>
          </p:spPr>
        </p:sp>
      </p:grpSp>
      <p:sp>
        <p:nvSpPr>
          <p:cNvPr name="Freeform 9" id="9"/>
          <p:cNvSpPr/>
          <p:nvPr/>
        </p:nvSpPr>
        <p:spPr>
          <a:xfrm flipH="false" flipV="false" rot="0">
            <a:off x="13662578" y="5424800"/>
            <a:ext cx="755352" cy="755352"/>
          </a:xfrm>
          <a:custGeom>
            <a:avLst/>
            <a:gdLst/>
            <a:ahLst/>
            <a:cxnLst/>
            <a:rect r="r" b="b" t="t" l="l"/>
            <a:pathLst>
              <a:path h="755352" w="755352">
                <a:moveTo>
                  <a:pt x="0" y="0"/>
                </a:moveTo>
                <a:lnTo>
                  <a:pt x="755352" y="0"/>
                </a:lnTo>
                <a:lnTo>
                  <a:pt x="755352" y="755352"/>
                </a:lnTo>
                <a:lnTo>
                  <a:pt x="0" y="7553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584095">
            <a:off x="7945393" y="7968823"/>
            <a:ext cx="3549878" cy="3549878"/>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16734" t="0" r="-16734" b="0"/>
              </a:stretch>
            </a:blipFill>
          </p:spPr>
        </p:sp>
      </p:grpSp>
      <p:sp>
        <p:nvSpPr>
          <p:cNvPr name="Freeform 12" id="12"/>
          <p:cNvSpPr/>
          <p:nvPr/>
        </p:nvSpPr>
        <p:spPr>
          <a:xfrm flipH="false" flipV="false" rot="0">
            <a:off x="15793181" y="2993413"/>
            <a:ext cx="1466119" cy="802367"/>
          </a:xfrm>
          <a:custGeom>
            <a:avLst/>
            <a:gdLst/>
            <a:ahLst/>
            <a:cxnLst/>
            <a:rect r="r" b="b" t="t" l="l"/>
            <a:pathLst>
              <a:path h="802367" w="1466119">
                <a:moveTo>
                  <a:pt x="0" y="0"/>
                </a:moveTo>
                <a:lnTo>
                  <a:pt x="1466119" y="0"/>
                </a:lnTo>
                <a:lnTo>
                  <a:pt x="1466119" y="802367"/>
                </a:lnTo>
                <a:lnTo>
                  <a:pt x="0" y="802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670826" y="6049480"/>
            <a:ext cx="1466119" cy="802367"/>
          </a:xfrm>
          <a:custGeom>
            <a:avLst/>
            <a:gdLst/>
            <a:ahLst/>
            <a:cxnLst/>
            <a:rect r="r" b="b" t="t" l="l"/>
            <a:pathLst>
              <a:path h="802367" w="1466119">
                <a:moveTo>
                  <a:pt x="0" y="0"/>
                </a:moveTo>
                <a:lnTo>
                  <a:pt x="1466120" y="0"/>
                </a:lnTo>
                <a:lnTo>
                  <a:pt x="1466120" y="802367"/>
                </a:lnTo>
                <a:lnTo>
                  <a:pt x="0" y="802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16" id="16"/>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17" id="17"/>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18" id="18"/>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9" id="19"/>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0" id="20"/>
          <p:cNvSpPr txBox="true"/>
          <p:nvPr/>
        </p:nvSpPr>
        <p:spPr>
          <a:xfrm rot="0">
            <a:off x="1028700" y="3382000"/>
            <a:ext cx="2275464"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High-quality datasets are essential for ML models, but issues like missing data, biased samples, and inconsistent labeling can negatively impact performance.</a:t>
            </a:r>
          </a:p>
        </p:txBody>
      </p:sp>
      <p:sp>
        <p:nvSpPr>
          <p:cNvPr name="TextBox 21" id="21"/>
          <p:cNvSpPr txBox="true"/>
          <p:nvPr/>
        </p:nvSpPr>
        <p:spPr>
          <a:xfrm rot="0">
            <a:off x="1028700" y="2964838"/>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Data Quality</a:t>
            </a:r>
          </a:p>
        </p:txBody>
      </p:sp>
      <p:sp>
        <p:nvSpPr>
          <p:cNvPr name="TextBox 22" id="22"/>
          <p:cNvSpPr txBox="true"/>
          <p:nvPr/>
        </p:nvSpPr>
        <p:spPr>
          <a:xfrm rot="0">
            <a:off x="4393738" y="4570168"/>
            <a:ext cx="2275464"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When a model learns too much from training data, it may fail to generalize well to new, unseen data, leading to poor real-world performance.</a:t>
            </a:r>
          </a:p>
        </p:txBody>
      </p:sp>
      <p:sp>
        <p:nvSpPr>
          <p:cNvPr name="TextBox 23" id="23"/>
          <p:cNvSpPr txBox="true"/>
          <p:nvPr/>
        </p:nvSpPr>
        <p:spPr>
          <a:xfrm rot="0">
            <a:off x="4393738" y="4153006"/>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Overfitting</a:t>
            </a:r>
          </a:p>
        </p:txBody>
      </p:sp>
      <p:sp>
        <p:nvSpPr>
          <p:cNvPr name="TextBox 24" id="24"/>
          <p:cNvSpPr txBox="true"/>
          <p:nvPr/>
        </p:nvSpPr>
        <p:spPr>
          <a:xfrm rot="0">
            <a:off x="993431" y="6438067"/>
            <a:ext cx="2275464"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Many ML models, especially deep learning models, act as "black boxes," making it difficult to understand their decision-making process.</a:t>
            </a:r>
          </a:p>
        </p:txBody>
      </p:sp>
      <p:sp>
        <p:nvSpPr>
          <p:cNvPr name="TextBox 25" id="25"/>
          <p:cNvSpPr txBox="true"/>
          <p:nvPr/>
        </p:nvSpPr>
        <p:spPr>
          <a:xfrm rot="0">
            <a:off x="993431" y="6020905"/>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Interpretability</a:t>
            </a:r>
          </a:p>
        </p:txBody>
      </p:sp>
      <p:sp>
        <p:nvSpPr>
          <p:cNvPr name="TextBox 26" id="26"/>
          <p:cNvSpPr txBox="true"/>
          <p:nvPr/>
        </p:nvSpPr>
        <p:spPr>
          <a:xfrm rot="0">
            <a:off x="4393738" y="8026704"/>
            <a:ext cx="2275464"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Bias in data and ML models can lead to discrimination and unfair outcomes, raising ethical and legal concerns about AI deployment.</a:t>
            </a:r>
          </a:p>
        </p:txBody>
      </p:sp>
      <p:sp>
        <p:nvSpPr>
          <p:cNvPr name="TextBox 27" id="27"/>
          <p:cNvSpPr txBox="true"/>
          <p:nvPr/>
        </p:nvSpPr>
        <p:spPr>
          <a:xfrm rot="0">
            <a:off x="4393738" y="7609542"/>
            <a:ext cx="2275464"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Ethical Concerns</a:t>
            </a:r>
          </a:p>
        </p:txBody>
      </p:sp>
      <p:sp>
        <p:nvSpPr>
          <p:cNvPr name="TextBox 28" id="28"/>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1028700" y="9139105"/>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4818963"/>
            <a:ext cx="3201659" cy="3128836"/>
            <a:chOff x="0" y="0"/>
            <a:chExt cx="843235" cy="824056"/>
          </a:xfrm>
        </p:grpSpPr>
        <p:sp>
          <p:nvSpPr>
            <p:cNvPr name="Freeform 7" id="7"/>
            <p:cNvSpPr/>
            <p:nvPr/>
          </p:nvSpPr>
          <p:spPr>
            <a:xfrm flipH="false" flipV="false" rot="0">
              <a:off x="0" y="0"/>
              <a:ext cx="843235" cy="824056"/>
            </a:xfrm>
            <a:custGeom>
              <a:avLst/>
              <a:gdLst/>
              <a:ahLst/>
              <a:cxnLst/>
              <a:rect r="r" b="b" t="t" l="l"/>
              <a:pathLst>
                <a:path h="824056" w="843235">
                  <a:moveTo>
                    <a:pt x="0" y="0"/>
                  </a:moveTo>
                  <a:lnTo>
                    <a:pt x="843235" y="0"/>
                  </a:lnTo>
                  <a:lnTo>
                    <a:pt x="843235" y="824056"/>
                  </a:lnTo>
                  <a:lnTo>
                    <a:pt x="0" y="824056"/>
                  </a:lnTo>
                  <a:close/>
                </a:path>
              </a:pathLst>
            </a:custGeom>
            <a:solidFill>
              <a:srgbClr val="1E1E1E"/>
            </a:solidFill>
            <a:ln w="9525" cap="sq">
              <a:solidFill>
                <a:srgbClr val="737373"/>
              </a:solidFill>
              <a:prstDash val="solid"/>
              <a:miter/>
            </a:ln>
          </p:spPr>
        </p:sp>
        <p:sp>
          <p:nvSpPr>
            <p:cNvPr name="TextBox 8" id="8"/>
            <p:cNvSpPr txBox="true"/>
            <p:nvPr/>
          </p:nvSpPr>
          <p:spPr>
            <a:xfrm>
              <a:off x="0" y="47625"/>
              <a:ext cx="843235" cy="776431"/>
            </a:xfrm>
            <a:prstGeom prst="rect">
              <a:avLst/>
            </a:prstGeom>
          </p:spPr>
          <p:txBody>
            <a:bodyPr anchor="ctr" rtlCol="false" tIns="50800" lIns="50800" bIns="50800" rIns="50800"/>
            <a:lstStyle/>
            <a:p>
              <a:pPr algn="ctr">
                <a:lnSpc>
                  <a:spcPts val="1120"/>
                </a:lnSpc>
              </a:pPr>
            </a:p>
          </p:txBody>
        </p:sp>
      </p:grpSp>
      <p:sp>
        <p:nvSpPr>
          <p:cNvPr name="Freeform 9" id="9"/>
          <p:cNvSpPr/>
          <p:nvPr/>
        </p:nvSpPr>
        <p:spPr>
          <a:xfrm flipH="false" flipV="false" rot="0">
            <a:off x="5843251" y="6345451"/>
            <a:ext cx="755352" cy="755352"/>
          </a:xfrm>
          <a:custGeom>
            <a:avLst/>
            <a:gdLst/>
            <a:ahLst/>
            <a:cxnLst/>
            <a:rect r="r" b="b" t="t" l="l"/>
            <a:pathLst>
              <a:path h="755352" w="755352">
                <a:moveTo>
                  <a:pt x="0" y="0"/>
                </a:moveTo>
                <a:lnTo>
                  <a:pt x="755352" y="0"/>
                </a:lnTo>
                <a:lnTo>
                  <a:pt x="755352" y="755352"/>
                </a:lnTo>
                <a:lnTo>
                  <a:pt x="0" y="755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230359" y="8373484"/>
            <a:ext cx="1616773" cy="884816"/>
          </a:xfrm>
          <a:custGeom>
            <a:avLst/>
            <a:gdLst/>
            <a:ahLst/>
            <a:cxnLst/>
            <a:rect r="r" b="b" t="t" l="l"/>
            <a:pathLst>
              <a:path h="884816" w="1616773">
                <a:moveTo>
                  <a:pt x="0" y="0"/>
                </a:moveTo>
                <a:lnTo>
                  <a:pt x="1616773" y="0"/>
                </a:lnTo>
                <a:lnTo>
                  <a:pt x="1616773" y="884816"/>
                </a:lnTo>
                <a:lnTo>
                  <a:pt x="0" y="884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5371680" y="2401385"/>
            <a:ext cx="3201659" cy="3175252"/>
            <a:chOff x="0" y="0"/>
            <a:chExt cx="843235" cy="836280"/>
          </a:xfrm>
        </p:grpSpPr>
        <p:sp>
          <p:nvSpPr>
            <p:cNvPr name="Freeform 12" id="12"/>
            <p:cNvSpPr/>
            <p:nvPr/>
          </p:nvSpPr>
          <p:spPr>
            <a:xfrm flipH="false" flipV="false" rot="0">
              <a:off x="0" y="0"/>
              <a:ext cx="843235" cy="836280"/>
            </a:xfrm>
            <a:custGeom>
              <a:avLst/>
              <a:gdLst/>
              <a:ahLst/>
              <a:cxnLst/>
              <a:rect r="r" b="b" t="t" l="l"/>
              <a:pathLst>
                <a:path h="836280" w="843235">
                  <a:moveTo>
                    <a:pt x="0" y="0"/>
                  </a:moveTo>
                  <a:lnTo>
                    <a:pt x="843235" y="0"/>
                  </a:lnTo>
                  <a:lnTo>
                    <a:pt x="843235" y="836280"/>
                  </a:lnTo>
                  <a:lnTo>
                    <a:pt x="0" y="836280"/>
                  </a:lnTo>
                  <a:close/>
                </a:path>
              </a:pathLst>
            </a:custGeom>
            <a:solidFill>
              <a:srgbClr val="1E1E1E"/>
            </a:solidFill>
            <a:ln w="9525" cap="sq">
              <a:solidFill>
                <a:srgbClr val="737373"/>
              </a:solidFill>
              <a:prstDash val="solid"/>
              <a:miter/>
            </a:ln>
          </p:spPr>
        </p:sp>
        <p:sp>
          <p:nvSpPr>
            <p:cNvPr name="TextBox 13" id="13"/>
            <p:cNvSpPr txBox="true"/>
            <p:nvPr/>
          </p:nvSpPr>
          <p:spPr>
            <a:xfrm>
              <a:off x="0" y="47625"/>
              <a:ext cx="843235" cy="788655"/>
            </a:xfrm>
            <a:prstGeom prst="rect">
              <a:avLst/>
            </a:prstGeom>
          </p:spPr>
          <p:txBody>
            <a:bodyPr anchor="ctr" rtlCol="false" tIns="50800" lIns="50800" bIns="50800" rIns="50800"/>
            <a:lstStyle/>
            <a:p>
              <a:pPr algn="ctr">
                <a:lnSpc>
                  <a:spcPts val="1120"/>
                </a:lnSpc>
              </a:pPr>
            </a:p>
          </p:txBody>
        </p:sp>
      </p:grpSp>
      <p:grpSp>
        <p:nvGrpSpPr>
          <p:cNvPr name="Group 14" id="14"/>
          <p:cNvGrpSpPr/>
          <p:nvPr/>
        </p:nvGrpSpPr>
        <p:grpSpPr>
          <a:xfrm rot="0">
            <a:off x="9714660" y="2427024"/>
            <a:ext cx="3201659" cy="3149612"/>
            <a:chOff x="0" y="0"/>
            <a:chExt cx="843235" cy="829528"/>
          </a:xfrm>
        </p:grpSpPr>
        <p:sp>
          <p:nvSpPr>
            <p:cNvPr name="Freeform 15" id="15"/>
            <p:cNvSpPr/>
            <p:nvPr/>
          </p:nvSpPr>
          <p:spPr>
            <a:xfrm flipH="false" flipV="false" rot="0">
              <a:off x="0" y="0"/>
              <a:ext cx="843235" cy="829528"/>
            </a:xfrm>
            <a:custGeom>
              <a:avLst/>
              <a:gdLst/>
              <a:ahLst/>
              <a:cxnLst/>
              <a:rect r="r" b="b" t="t" l="l"/>
              <a:pathLst>
                <a:path h="829528" w="843235">
                  <a:moveTo>
                    <a:pt x="0" y="0"/>
                  </a:moveTo>
                  <a:lnTo>
                    <a:pt x="843235" y="0"/>
                  </a:lnTo>
                  <a:lnTo>
                    <a:pt x="843235" y="829528"/>
                  </a:lnTo>
                  <a:lnTo>
                    <a:pt x="0" y="829528"/>
                  </a:lnTo>
                  <a:close/>
                </a:path>
              </a:pathLst>
            </a:custGeom>
            <a:solidFill>
              <a:srgbClr val="1E1E1E"/>
            </a:solidFill>
            <a:ln w="9525" cap="sq">
              <a:solidFill>
                <a:srgbClr val="737373"/>
              </a:solidFill>
              <a:prstDash val="solid"/>
              <a:miter/>
            </a:ln>
          </p:spPr>
        </p:sp>
        <p:sp>
          <p:nvSpPr>
            <p:cNvPr name="TextBox 16" id="16"/>
            <p:cNvSpPr txBox="true"/>
            <p:nvPr/>
          </p:nvSpPr>
          <p:spPr>
            <a:xfrm>
              <a:off x="0" y="47625"/>
              <a:ext cx="843235" cy="781903"/>
            </a:xfrm>
            <a:prstGeom prst="rect">
              <a:avLst/>
            </a:prstGeom>
          </p:spPr>
          <p:txBody>
            <a:bodyPr anchor="ctr" rtlCol="false" tIns="50800" lIns="50800" bIns="50800" rIns="50800"/>
            <a:lstStyle/>
            <a:p>
              <a:pPr algn="ctr">
                <a:lnSpc>
                  <a:spcPts val="1120"/>
                </a:lnSpc>
              </a:pPr>
            </a:p>
          </p:txBody>
        </p:sp>
      </p:grpSp>
      <p:grpSp>
        <p:nvGrpSpPr>
          <p:cNvPr name="Group 17" id="17"/>
          <p:cNvGrpSpPr/>
          <p:nvPr/>
        </p:nvGrpSpPr>
        <p:grpSpPr>
          <a:xfrm rot="0">
            <a:off x="14057641" y="2448489"/>
            <a:ext cx="3201659" cy="3128148"/>
            <a:chOff x="0" y="0"/>
            <a:chExt cx="843235" cy="823874"/>
          </a:xfrm>
        </p:grpSpPr>
        <p:sp>
          <p:nvSpPr>
            <p:cNvPr name="Freeform 18" id="18"/>
            <p:cNvSpPr/>
            <p:nvPr/>
          </p:nvSpPr>
          <p:spPr>
            <a:xfrm flipH="false" flipV="false" rot="0">
              <a:off x="0" y="0"/>
              <a:ext cx="843235" cy="823874"/>
            </a:xfrm>
            <a:custGeom>
              <a:avLst/>
              <a:gdLst/>
              <a:ahLst/>
              <a:cxnLst/>
              <a:rect r="r" b="b" t="t" l="l"/>
              <a:pathLst>
                <a:path h="823874" w="843235">
                  <a:moveTo>
                    <a:pt x="0" y="0"/>
                  </a:moveTo>
                  <a:lnTo>
                    <a:pt x="843235" y="0"/>
                  </a:lnTo>
                  <a:lnTo>
                    <a:pt x="843235" y="823874"/>
                  </a:lnTo>
                  <a:lnTo>
                    <a:pt x="0" y="823874"/>
                  </a:lnTo>
                  <a:close/>
                </a:path>
              </a:pathLst>
            </a:custGeom>
            <a:solidFill>
              <a:srgbClr val="1E1E1E"/>
            </a:solidFill>
            <a:ln w="9525" cap="sq">
              <a:solidFill>
                <a:srgbClr val="737373"/>
              </a:solidFill>
              <a:prstDash val="solid"/>
              <a:miter/>
            </a:ln>
          </p:spPr>
        </p:sp>
        <p:sp>
          <p:nvSpPr>
            <p:cNvPr name="TextBox 19" id="19"/>
            <p:cNvSpPr txBox="true"/>
            <p:nvPr/>
          </p:nvSpPr>
          <p:spPr>
            <a:xfrm>
              <a:off x="0" y="47625"/>
              <a:ext cx="843235" cy="776249"/>
            </a:xfrm>
            <a:prstGeom prst="rect">
              <a:avLst/>
            </a:prstGeom>
          </p:spPr>
          <p:txBody>
            <a:bodyPr anchor="ctr" rtlCol="false" tIns="50800" lIns="50800" bIns="50800" rIns="50800"/>
            <a:lstStyle/>
            <a:p>
              <a:pPr algn="ctr">
                <a:lnSpc>
                  <a:spcPts val="1120"/>
                </a:lnSpc>
              </a:pPr>
            </a:p>
          </p:txBody>
        </p:sp>
      </p:grpSp>
      <p:grpSp>
        <p:nvGrpSpPr>
          <p:cNvPr name="Group 20" id="20"/>
          <p:cNvGrpSpPr/>
          <p:nvPr/>
        </p:nvGrpSpPr>
        <p:grpSpPr>
          <a:xfrm rot="578107">
            <a:off x="13204906" y="6671968"/>
            <a:ext cx="3765807" cy="3765807"/>
            <a:chOff x="0" y="0"/>
            <a:chExt cx="6350000" cy="6350000"/>
          </a:xfrm>
        </p:grpSpPr>
        <p:sp>
          <p:nvSpPr>
            <p:cNvPr name="Freeform 21" id="2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8"/>
              <a:stretch>
                <a:fillRect l="-25172" t="0" r="-25172" b="0"/>
              </a:stretch>
            </a:blipFill>
          </p:spPr>
        </p:sp>
      </p:grpSp>
      <p:sp>
        <p:nvSpPr>
          <p:cNvPr name="Freeform 22" id="22"/>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7329387" y="6516901"/>
            <a:ext cx="5124392" cy="3033248"/>
          </a:xfrm>
          <a:prstGeom prst="rect">
            <a:avLst/>
          </a:prstGeom>
        </p:spPr>
        <p:txBody>
          <a:bodyPr anchor="t" rtlCol="false" tIns="0" lIns="0" bIns="0" rIns="0">
            <a:spAutoFit/>
          </a:bodyPr>
          <a:lstStyle/>
          <a:p>
            <a:pPr algn="l">
              <a:lnSpc>
                <a:spcPts val="5848"/>
              </a:lnSpc>
            </a:pPr>
            <a:r>
              <a:rPr lang="en-US" sz="6498">
                <a:solidFill>
                  <a:srgbClr val="C1FF72"/>
                </a:solidFill>
                <a:latin typeface="Bicubik"/>
                <a:ea typeface="Bicubik"/>
                <a:cs typeface="Bicubik"/>
                <a:sym typeface="Bicubik"/>
              </a:rPr>
              <a:t>Future Trends in Machine Learning</a:t>
            </a:r>
          </a:p>
        </p:txBody>
      </p:sp>
      <p:sp>
        <p:nvSpPr>
          <p:cNvPr name="TextBox 24" id="24"/>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5" id="25"/>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6" id="26"/>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7" id="27"/>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8" id="28"/>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9" id="29"/>
          <p:cNvSpPr txBox="true"/>
          <p:nvPr/>
        </p:nvSpPr>
        <p:spPr>
          <a:xfrm rot="0">
            <a:off x="1028700" y="2379399"/>
            <a:ext cx="2275464" cy="824733"/>
          </a:xfrm>
          <a:prstGeom prst="rect">
            <a:avLst/>
          </a:prstGeom>
        </p:spPr>
        <p:txBody>
          <a:bodyPr anchor="t" rtlCol="false" tIns="0" lIns="0" bIns="0" rIns="0">
            <a:spAutoFit/>
          </a:bodyPr>
          <a:lstStyle/>
          <a:p>
            <a:pPr algn="l">
              <a:lnSpc>
                <a:spcPts val="3359"/>
              </a:lnSpc>
            </a:pPr>
            <a:r>
              <a:rPr lang="en-US" sz="2399" spc="-95" b="true">
                <a:solidFill>
                  <a:srgbClr val="D9D9D9"/>
                </a:solidFill>
                <a:latin typeface="Open Sauce Bold"/>
                <a:ea typeface="Open Sauce Bold"/>
                <a:cs typeface="Open Sauce Bold"/>
                <a:sym typeface="Open Sauce Bold"/>
              </a:rPr>
              <a:t>What Lies Ahead?</a:t>
            </a:r>
          </a:p>
        </p:txBody>
      </p:sp>
      <p:sp>
        <p:nvSpPr>
          <p:cNvPr name="TextBox 30" id="30"/>
          <p:cNvSpPr txBox="true"/>
          <p:nvPr/>
        </p:nvSpPr>
        <p:spPr>
          <a:xfrm rot="0">
            <a:off x="1602447" y="5959219"/>
            <a:ext cx="2309159"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 growing focus on making ML models more interpretable and transparent to increase trust and accountability.</a:t>
            </a:r>
          </a:p>
        </p:txBody>
      </p:sp>
      <p:sp>
        <p:nvSpPr>
          <p:cNvPr name="TextBox 31" id="31"/>
          <p:cNvSpPr txBox="true"/>
          <p:nvPr/>
        </p:nvSpPr>
        <p:spPr>
          <a:xfrm rot="0">
            <a:off x="1602447" y="5548062"/>
            <a:ext cx="2309159"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Explainable AI (XAI)</a:t>
            </a:r>
          </a:p>
        </p:txBody>
      </p:sp>
      <p:sp>
        <p:nvSpPr>
          <p:cNvPr name="TextBox 32" id="32"/>
          <p:cNvSpPr txBox="true"/>
          <p:nvPr/>
        </p:nvSpPr>
        <p:spPr>
          <a:xfrm rot="0">
            <a:off x="5847132" y="3688362"/>
            <a:ext cx="2250756"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Federated learning and homomorphic encryption allow ML to operate on sensitive data while ensuring privacy.</a:t>
            </a:r>
          </a:p>
        </p:txBody>
      </p:sp>
      <p:sp>
        <p:nvSpPr>
          <p:cNvPr name="TextBox 33" id="33"/>
          <p:cNvSpPr txBox="true"/>
          <p:nvPr/>
        </p:nvSpPr>
        <p:spPr>
          <a:xfrm rot="0">
            <a:off x="5847132" y="3029489"/>
            <a:ext cx="2250756" cy="488447"/>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Privacy-Preserving Techniques</a:t>
            </a:r>
          </a:p>
        </p:txBody>
      </p:sp>
      <p:sp>
        <p:nvSpPr>
          <p:cNvPr name="TextBox 34" id="34"/>
          <p:cNvSpPr txBox="true"/>
          <p:nvPr/>
        </p:nvSpPr>
        <p:spPr>
          <a:xfrm rot="0">
            <a:off x="10176120" y="3688362"/>
            <a:ext cx="2288880" cy="1231596"/>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Integration of ML into software development to automate coding, debugging, and optimization tasks.</a:t>
            </a:r>
          </a:p>
        </p:txBody>
      </p:sp>
      <p:sp>
        <p:nvSpPr>
          <p:cNvPr name="TextBox 35" id="35"/>
          <p:cNvSpPr txBox="true"/>
          <p:nvPr/>
        </p:nvSpPr>
        <p:spPr>
          <a:xfrm rot="0">
            <a:off x="10165980" y="3029489"/>
            <a:ext cx="2288880" cy="488447"/>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AI-Augmented Software Development</a:t>
            </a:r>
          </a:p>
        </p:txBody>
      </p:sp>
      <p:sp>
        <p:nvSpPr>
          <p:cNvPr name="TextBox 36" id="36"/>
          <p:cNvSpPr txBox="true"/>
          <p:nvPr/>
        </p:nvSpPr>
        <p:spPr>
          <a:xfrm rot="0">
            <a:off x="14503891" y="3480419"/>
            <a:ext cx="2346270" cy="1479312"/>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rise of quantum computing and specialized hardware accelerators will enhance ML capabilities, making it more efficient and powerful.</a:t>
            </a:r>
          </a:p>
        </p:txBody>
      </p:sp>
      <p:sp>
        <p:nvSpPr>
          <p:cNvPr name="TextBox 37" id="37"/>
          <p:cNvSpPr txBox="true"/>
          <p:nvPr/>
        </p:nvSpPr>
        <p:spPr>
          <a:xfrm rot="0">
            <a:off x="14466780" y="3036820"/>
            <a:ext cx="2346270" cy="240731"/>
          </a:xfrm>
          <a:prstGeom prst="rect">
            <a:avLst/>
          </a:prstGeom>
        </p:spPr>
        <p:txBody>
          <a:bodyPr anchor="t" rtlCol="false" tIns="0" lIns="0" bIns="0" rIns="0">
            <a:spAutoFit/>
          </a:bodyPr>
          <a:lstStyle/>
          <a:p>
            <a:pPr algn="l">
              <a:lnSpc>
                <a:spcPts val="1960"/>
              </a:lnSpc>
            </a:pPr>
            <a:r>
              <a:rPr lang="en-US" sz="1400" spc="-56" b="true">
                <a:solidFill>
                  <a:srgbClr val="C1FF72"/>
                </a:solidFill>
                <a:latin typeface="Open Sauce Bold"/>
                <a:ea typeface="Open Sauce Bold"/>
                <a:cs typeface="Open Sauce Bold"/>
                <a:sym typeface="Open Sauce Bold"/>
              </a:rPr>
              <a:t>Advanced Computing for ML</a:t>
            </a:r>
          </a:p>
        </p:txBody>
      </p:sp>
      <p:sp>
        <p:nvSpPr>
          <p:cNvPr name="TextBox 38" id="38"/>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Freeform 5" id="5"/>
          <p:cNvSpPr/>
          <p:nvPr/>
        </p:nvSpPr>
        <p:spPr>
          <a:xfrm flipH="false" flipV="false" rot="0">
            <a:off x="9151073" y="4771314"/>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84095">
            <a:off x="14854929" y="4355656"/>
            <a:ext cx="2231755" cy="2231755"/>
            <a:chOff x="0" y="0"/>
            <a:chExt cx="6350000" cy="6350000"/>
          </a:xfrm>
        </p:grpSpPr>
        <p:sp>
          <p:nvSpPr>
            <p:cNvPr name="Freeform 7" id="7"/>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916" t="0" r="-24916" b="0"/>
              </a:stretch>
            </a:blipFill>
          </p:spPr>
        </p:sp>
      </p:grpSp>
      <p:grpSp>
        <p:nvGrpSpPr>
          <p:cNvPr name="Group 8" id="8"/>
          <p:cNvGrpSpPr/>
          <p:nvPr/>
        </p:nvGrpSpPr>
        <p:grpSpPr>
          <a:xfrm rot="578107">
            <a:off x="9310008" y="1850775"/>
            <a:ext cx="2166257" cy="2166257"/>
            <a:chOff x="0" y="0"/>
            <a:chExt cx="6350000" cy="6350000"/>
          </a:xfrm>
        </p:grpSpPr>
        <p:sp>
          <p:nvSpPr>
            <p:cNvPr name="Freeform 9" id="9"/>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25031" t="0" r="-25031" b="0"/>
              </a:stretch>
            </a:blipFill>
          </p:spPr>
        </p:sp>
      </p:grpSp>
      <p:grpSp>
        <p:nvGrpSpPr>
          <p:cNvPr name="Group 10" id="10"/>
          <p:cNvGrpSpPr/>
          <p:nvPr/>
        </p:nvGrpSpPr>
        <p:grpSpPr>
          <a:xfrm rot="578107">
            <a:off x="9250955" y="6926035"/>
            <a:ext cx="2166257" cy="2166257"/>
            <a:chOff x="0" y="0"/>
            <a:chExt cx="6350000" cy="6350000"/>
          </a:xfrm>
        </p:grpSpPr>
        <p:sp>
          <p:nvSpPr>
            <p:cNvPr name="Freeform 11" id="11"/>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6"/>
              <a:stretch>
                <a:fillRect l="-24891" t="0" r="-24891" b="0"/>
              </a:stretch>
            </a:blipFill>
          </p:spPr>
        </p:sp>
      </p:grpSp>
      <p:sp>
        <p:nvSpPr>
          <p:cNvPr name="Freeform 12" id="12"/>
          <p:cNvSpPr/>
          <p:nvPr/>
        </p:nvSpPr>
        <p:spPr>
          <a:xfrm flipH="false" flipV="false" rot="0">
            <a:off x="12063731" y="2206118"/>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2063731" y="7142569"/>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926582" y="6292678"/>
            <a:ext cx="6708666" cy="6708666"/>
            <a:chOff x="0" y="0"/>
            <a:chExt cx="6350000" cy="6350000"/>
          </a:xfrm>
        </p:grpSpPr>
        <p:sp>
          <p:nvSpPr>
            <p:cNvPr name="Freeform 15" id="15"/>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25121" t="0" r="-25121" b="0"/>
              </a:stretch>
            </a:blipFill>
          </p:spPr>
        </p:sp>
      </p:grpSp>
      <p:sp>
        <p:nvSpPr>
          <p:cNvPr name="Freeform 16" id="16"/>
          <p:cNvSpPr/>
          <p:nvPr/>
        </p:nvSpPr>
        <p:spPr>
          <a:xfrm flipH="false" flipV="false" rot="0">
            <a:off x="3813565" y="5825328"/>
            <a:ext cx="934700" cy="934700"/>
          </a:xfrm>
          <a:custGeom>
            <a:avLst/>
            <a:gdLst/>
            <a:ahLst/>
            <a:cxnLst/>
            <a:rect r="r" b="b" t="t" l="l"/>
            <a:pathLst>
              <a:path h="934700" w="934700">
                <a:moveTo>
                  <a:pt x="0" y="0"/>
                </a:moveTo>
                <a:lnTo>
                  <a:pt x="934699" y="0"/>
                </a:lnTo>
                <a:lnTo>
                  <a:pt x="934699" y="934700"/>
                </a:lnTo>
                <a:lnTo>
                  <a:pt x="0" y="9347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993431" y="2563438"/>
            <a:ext cx="6574968" cy="3194586"/>
          </a:xfrm>
          <a:prstGeom prst="rect">
            <a:avLst/>
          </a:prstGeom>
        </p:spPr>
        <p:txBody>
          <a:bodyPr anchor="t" rtlCol="false" tIns="0" lIns="0" bIns="0" rIns="0">
            <a:spAutoFit/>
          </a:bodyPr>
          <a:lstStyle/>
          <a:p>
            <a:pPr algn="l">
              <a:lnSpc>
                <a:spcPts val="8143"/>
              </a:lnSpc>
            </a:pPr>
            <a:r>
              <a:rPr lang="en-US" sz="9047">
                <a:solidFill>
                  <a:srgbClr val="C1FF72"/>
                </a:solidFill>
                <a:latin typeface="Bicubik"/>
                <a:ea typeface="Bicubik"/>
                <a:cs typeface="Bicubik"/>
                <a:sym typeface="Bicubik"/>
              </a:rPr>
              <a:t>Machine Learning in Action</a:t>
            </a:r>
          </a:p>
        </p:txBody>
      </p:sp>
      <p:sp>
        <p:nvSpPr>
          <p:cNvPr name="TextBox 19" id="19"/>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0" id="20"/>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1" id="21"/>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2" id="22"/>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3" id="23"/>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4" id="24"/>
          <p:cNvSpPr txBox="true"/>
          <p:nvPr/>
        </p:nvSpPr>
        <p:spPr>
          <a:xfrm rot="0">
            <a:off x="12063731" y="2877763"/>
            <a:ext cx="5195569" cy="736163"/>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ability of ML models to recognize objects in images has revolutionized various industries, from medical imaging to security surveillance.</a:t>
            </a:r>
          </a:p>
        </p:txBody>
      </p:sp>
      <p:sp>
        <p:nvSpPr>
          <p:cNvPr name="TextBox 25" id="25"/>
          <p:cNvSpPr txBox="true"/>
          <p:nvPr/>
        </p:nvSpPr>
        <p:spPr>
          <a:xfrm rot="0">
            <a:off x="9144000" y="5442959"/>
            <a:ext cx="5195569" cy="736163"/>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A common approach involves training convolutional neural networks (CNNs) on large datasets, allowing the model to identify patterns and features in images.</a:t>
            </a:r>
          </a:p>
        </p:txBody>
      </p:sp>
      <p:sp>
        <p:nvSpPr>
          <p:cNvPr name="TextBox 26" id="26"/>
          <p:cNvSpPr txBox="true"/>
          <p:nvPr/>
        </p:nvSpPr>
        <p:spPr>
          <a:xfrm rot="0">
            <a:off x="12063731" y="7841780"/>
            <a:ext cx="5195569" cy="983880"/>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process includes data collection, preprocessing, training, validation, and deployment. Once trained, the model can classify objects with high accuracy, assisting professionals in fields like healthcare, autonomous driving, and e-commerce.</a:t>
            </a:r>
          </a:p>
        </p:txBody>
      </p:sp>
      <p:sp>
        <p:nvSpPr>
          <p:cNvPr name="TextBox 27" id="27"/>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grpSp>
        <p:nvGrpSpPr>
          <p:cNvPr name="Group 5" id="5"/>
          <p:cNvGrpSpPr/>
          <p:nvPr/>
        </p:nvGrpSpPr>
        <p:grpSpPr>
          <a:xfrm rot="0">
            <a:off x="1028700" y="2366990"/>
            <a:ext cx="10443808" cy="4687990"/>
            <a:chOff x="0" y="0"/>
            <a:chExt cx="2750633" cy="1234697"/>
          </a:xfrm>
        </p:grpSpPr>
        <p:sp>
          <p:nvSpPr>
            <p:cNvPr name="Freeform 6" id="6"/>
            <p:cNvSpPr/>
            <p:nvPr/>
          </p:nvSpPr>
          <p:spPr>
            <a:xfrm flipH="false" flipV="false" rot="0">
              <a:off x="0" y="0"/>
              <a:ext cx="2750632" cy="1234697"/>
            </a:xfrm>
            <a:custGeom>
              <a:avLst/>
              <a:gdLst/>
              <a:ahLst/>
              <a:cxnLst/>
              <a:rect r="r" b="b" t="t" l="l"/>
              <a:pathLst>
                <a:path h="1234697" w="2750632">
                  <a:moveTo>
                    <a:pt x="0" y="0"/>
                  </a:moveTo>
                  <a:lnTo>
                    <a:pt x="2750632" y="0"/>
                  </a:lnTo>
                  <a:lnTo>
                    <a:pt x="2750632" y="1234697"/>
                  </a:lnTo>
                  <a:lnTo>
                    <a:pt x="0" y="1234697"/>
                  </a:lnTo>
                  <a:close/>
                </a:path>
              </a:pathLst>
            </a:custGeom>
            <a:solidFill>
              <a:srgbClr val="1E1E1E"/>
            </a:solidFill>
            <a:ln w="9525" cap="sq">
              <a:solidFill>
                <a:srgbClr val="737373"/>
              </a:solidFill>
              <a:prstDash val="solid"/>
              <a:miter/>
            </a:ln>
          </p:spPr>
        </p:sp>
        <p:sp>
          <p:nvSpPr>
            <p:cNvPr name="TextBox 7" id="7"/>
            <p:cNvSpPr txBox="true"/>
            <p:nvPr/>
          </p:nvSpPr>
          <p:spPr>
            <a:xfrm>
              <a:off x="0" y="47625"/>
              <a:ext cx="2750633" cy="1187072"/>
            </a:xfrm>
            <a:prstGeom prst="rect">
              <a:avLst/>
            </a:prstGeom>
          </p:spPr>
          <p:txBody>
            <a:bodyPr anchor="ctr" rtlCol="false" tIns="50800" lIns="50800" bIns="50800" rIns="50800"/>
            <a:lstStyle/>
            <a:p>
              <a:pPr algn="ctr">
                <a:lnSpc>
                  <a:spcPts val="1120"/>
                </a:lnSpc>
              </a:pPr>
            </a:p>
          </p:txBody>
        </p:sp>
      </p:grpSp>
      <p:sp>
        <p:nvSpPr>
          <p:cNvPr name="Freeform 8" id="8"/>
          <p:cNvSpPr/>
          <p:nvPr/>
        </p:nvSpPr>
        <p:spPr>
          <a:xfrm flipH="false" flipV="false" rot="0">
            <a:off x="16782521" y="9064756"/>
            <a:ext cx="476779" cy="119195"/>
          </a:xfrm>
          <a:custGeom>
            <a:avLst/>
            <a:gdLst/>
            <a:ahLst/>
            <a:cxnLst/>
            <a:rect r="r" b="b" t="t" l="l"/>
            <a:pathLst>
              <a:path h="119195" w="476779">
                <a:moveTo>
                  <a:pt x="0" y="0"/>
                </a:moveTo>
                <a:lnTo>
                  <a:pt x="476779" y="0"/>
                </a:lnTo>
                <a:lnTo>
                  <a:pt x="476779" y="119195"/>
                </a:lnTo>
                <a:lnTo>
                  <a:pt x="0" y="119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578107">
            <a:off x="12580147" y="7252737"/>
            <a:ext cx="2580553" cy="2580553"/>
            <a:chOff x="0" y="0"/>
            <a:chExt cx="6350000" cy="6350000"/>
          </a:xfrm>
        </p:grpSpPr>
        <p:sp>
          <p:nvSpPr>
            <p:cNvPr name="Freeform 10" id="1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4916" t="0" r="-24916" b="0"/>
              </a:stretch>
            </a:blipFill>
          </p:spPr>
        </p:sp>
      </p:grpSp>
      <p:grpSp>
        <p:nvGrpSpPr>
          <p:cNvPr name="Group 11" id="11"/>
          <p:cNvGrpSpPr/>
          <p:nvPr/>
        </p:nvGrpSpPr>
        <p:grpSpPr>
          <a:xfrm rot="-584095">
            <a:off x="13288140" y="2652090"/>
            <a:ext cx="3686060" cy="3686060"/>
            <a:chOff x="0" y="0"/>
            <a:chExt cx="6350000" cy="6350000"/>
          </a:xfrm>
        </p:grpSpPr>
        <p:sp>
          <p:nvSpPr>
            <p:cNvPr name="Freeform 12" id="12"/>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5"/>
              <a:stretch>
                <a:fillRect l="0" t="-25061" r="0" b="-25061"/>
              </a:stretch>
            </a:blipFill>
          </p:spPr>
        </p:sp>
      </p:grpSp>
      <p:sp>
        <p:nvSpPr>
          <p:cNvPr name="Freeform 13" id="13"/>
          <p:cNvSpPr/>
          <p:nvPr/>
        </p:nvSpPr>
        <p:spPr>
          <a:xfrm flipH="false" flipV="false" rot="0">
            <a:off x="15131170" y="5842150"/>
            <a:ext cx="781100" cy="781100"/>
          </a:xfrm>
          <a:custGeom>
            <a:avLst/>
            <a:gdLst/>
            <a:ahLst/>
            <a:cxnLst/>
            <a:rect r="r" b="b" t="t" l="l"/>
            <a:pathLst>
              <a:path h="781100" w="781100">
                <a:moveTo>
                  <a:pt x="0" y="0"/>
                </a:moveTo>
                <a:lnTo>
                  <a:pt x="781100" y="0"/>
                </a:lnTo>
                <a:lnTo>
                  <a:pt x="781100" y="781100"/>
                </a:lnTo>
                <a:lnTo>
                  <a:pt x="0" y="7811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3993108" y="5493657"/>
            <a:ext cx="1673355" cy="915781"/>
          </a:xfrm>
          <a:custGeom>
            <a:avLst/>
            <a:gdLst/>
            <a:ahLst/>
            <a:cxnLst/>
            <a:rect r="r" b="b" t="t" l="l"/>
            <a:pathLst>
              <a:path h="915781" w="1673355">
                <a:moveTo>
                  <a:pt x="0" y="0"/>
                </a:moveTo>
                <a:lnTo>
                  <a:pt x="1673355" y="0"/>
                </a:lnTo>
                <a:lnTo>
                  <a:pt x="1673355" y="915782"/>
                </a:lnTo>
                <a:lnTo>
                  <a:pt x="0" y="9157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535553" y="3012533"/>
            <a:ext cx="1673355" cy="915781"/>
          </a:xfrm>
          <a:custGeom>
            <a:avLst/>
            <a:gdLst/>
            <a:ahLst/>
            <a:cxnLst/>
            <a:rect r="r" b="b" t="t" l="l"/>
            <a:pathLst>
              <a:path h="915781" w="1673355">
                <a:moveTo>
                  <a:pt x="0" y="0"/>
                </a:moveTo>
                <a:lnTo>
                  <a:pt x="1673355" y="0"/>
                </a:lnTo>
                <a:lnTo>
                  <a:pt x="1673355" y="915781"/>
                </a:lnTo>
                <a:lnTo>
                  <a:pt x="0" y="9157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6450663" y="3012533"/>
            <a:ext cx="1673355" cy="915781"/>
          </a:xfrm>
          <a:custGeom>
            <a:avLst/>
            <a:gdLst/>
            <a:ahLst/>
            <a:cxnLst/>
            <a:rect r="r" b="b" t="t" l="l"/>
            <a:pathLst>
              <a:path h="915781" w="1673355">
                <a:moveTo>
                  <a:pt x="0" y="0"/>
                </a:moveTo>
                <a:lnTo>
                  <a:pt x="1673354" y="0"/>
                </a:lnTo>
                <a:lnTo>
                  <a:pt x="1673354" y="915781"/>
                </a:lnTo>
                <a:lnTo>
                  <a:pt x="0" y="9157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908218" y="5493657"/>
            <a:ext cx="1673355" cy="915781"/>
          </a:xfrm>
          <a:custGeom>
            <a:avLst/>
            <a:gdLst/>
            <a:ahLst/>
            <a:cxnLst/>
            <a:rect r="r" b="b" t="t" l="l"/>
            <a:pathLst>
              <a:path h="915781" w="1673355">
                <a:moveTo>
                  <a:pt x="0" y="0"/>
                </a:moveTo>
                <a:lnTo>
                  <a:pt x="1673354" y="0"/>
                </a:lnTo>
                <a:lnTo>
                  <a:pt x="1673354" y="915782"/>
                </a:lnTo>
                <a:lnTo>
                  <a:pt x="0" y="9157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1028700" y="8076272"/>
            <a:ext cx="10443808" cy="1429478"/>
          </a:xfrm>
          <a:prstGeom prst="rect">
            <a:avLst/>
          </a:prstGeom>
        </p:spPr>
        <p:txBody>
          <a:bodyPr anchor="t" rtlCol="false" tIns="0" lIns="0" bIns="0" rIns="0">
            <a:spAutoFit/>
          </a:bodyPr>
          <a:lstStyle/>
          <a:p>
            <a:pPr algn="l">
              <a:lnSpc>
                <a:spcPts val="10221"/>
              </a:lnSpc>
            </a:pPr>
            <a:r>
              <a:rPr lang="en-US" sz="11357">
                <a:solidFill>
                  <a:srgbClr val="C1FF72"/>
                </a:solidFill>
                <a:latin typeface="Bicubik"/>
                <a:ea typeface="Bicubik"/>
                <a:cs typeface="Bicubik"/>
                <a:sym typeface="Bicubik"/>
              </a:rPr>
              <a:t>Conclusion</a:t>
            </a:r>
          </a:p>
        </p:txBody>
      </p:sp>
      <p:sp>
        <p:nvSpPr>
          <p:cNvPr name="TextBox 20" id="20"/>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21" id="21"/>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22" id="22"/>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23" id="23"/>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24" id="24"/>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TextBox 25" id="25"/>
          <p:cNvSpPr txBox="true"/>
          <p:nvPr/>
        </p:nvSpPr>
        <p:spPr>
          <a:xfrm rot="0">
            <a:off x="1535553" y="4588502"/>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Machine learning has transformed multiple industries, driving automation, enhancing decision-making, and enabling intelligent systems.</a:t>
            </a:r>
          </a:p>
        </p:txBody>
      </p:sp>
      <p:sp>
        <p:nvSpPr>
          <p:cNvPr name="TextBox 26" id="26"/>
          <p:cNvSpPr txBox="true"/>
          <p:nvPr/>
        </p:nvSpPr>
        <p:spPr>
          <a:xfrm rot="0">
            <a:off x="3993108" y="2983958"/>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With ongoing research and advancements in computing power, the future of ML promises even greater breakthroughs in AI and data science.</a:t>
            </a:r>
          </a:p>
        </p:txBody>
      </p:sp>
      <p:sp>
        <p:nvSpPr>
          <p:cNvPr name="TextBox 27" id="27"/>
          <p:cNvSpPr txBox="true"/>
          <p:nvPr/>
        </p:nvSpPr>
        <p:spPr>
          <a:xfrm rot="0">
            <a:off x="6450663" y="4682411"/>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Ethical considerations, including fairness, transparency, and data privacy, must remain a priority in ML development and deployment.</a:t>
            </a:r>
          </a:p>
        </p:txBody>
      </p:sp>
      <p:sp>
        <p:nvSpPr>
          <p:cNvPr name="TextBox 28" id="28"/>
          <p:cNvSpPr txBox="true"/>
          <p:nvPr/>
        </p:nvSpPr>
        <p:spPr>
          <a:xfrm rot="0">
            <a:off x="8908218" y="2983958"/>
            <a:ext cx="2057437" cy="1727028"/>
          </a:xfrm>
          <a:prstGeom prst="rect">
            <a:avLst/>
          </a:prstGeom>
        </p:spPr>
        <p:txBody>
          <a:bodyPr anchor="t" rtlCol="false" tIns="0" lIns="0" bIns="0" rIns="0">
            <a:spAutoFit/>
          </a:bodyPr>
          <a:lstStyle/>
          <a:p>
            <a:pPr algn="l">
              <a:lnSpc>
                <a:spcPts val="1960"/>
              </a:lnSpc>
            </a:pPr>
            <a:r>
              <a:rPr lang="en-US" sz="1400" spc="-56">
                <a:solidFill>
                  <a:srgbClr val="D9D9D9"/>
                </a:solidFill>
                <a:latin typeface="Open Sauce"/>
                <a:ea typeface="Open Sauce"/>
                <a:cs typeface="Open Sauce"/>
                <a:sym typeface="Open Sauce"/>
              </a:rPr>
              <a:t>The evolution of ML will continue to shape the digital landscape, opening new opportunities for businesses and researchers alike.</a:t>
            </a:r>
          </a:p>
        </p:txBody>
      </p:sp>
      <p:sp>
        <p:nvSpPr>
          <p:cNvPr name="TextBox 29" id="29"/>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6187417" y="466283"/>
            <a:ext cx="1461248" cy="443023"/>
            <a:chOff x="0" y="0"/>
            <a:chExt cx="384856" cy="116681"/>
          </a:xfrm>
        </p:grpSpPr>
        <p:sp>
          <p:nvSpPr>
            <p:cNvPr name="Freeform 3" id="3"/>
            <p:cNvSpPr/>
            <p:nvPr/>
          </p:nvSpPr>
          <p:spPr>
            <a:xfrm flipH="false" flipV="false" rot="0">
              <a:off x="0" y="0"/>
              <a:ext cx="384856" cy="116681"/>
            </a:xfrm>
            <a:custGeom>
              <a:avLst/>
              <a:gdLst/>
              <a:ahLst/>
              <a:cxnLst/>
              <a:rect r="r" b="b" t="t" l="l"/>
              <a:pathLst>
                <a:path h="116681" w="384856">
                  <a:moveTo>
                    <a:pt x="58340" y="0"/>
                  </a:moveTo>
                  <a:lnTo>
                    <a:pt x="326515" y="0"/>
                  </a:lnTo>
                  <a:cubicBezTo>
                    <a:pt x="341988" y="0"/>
                    <a:pt x="356827" y="6147"/>
                    <a:pt x="367768" y="17088"/>
                  </a:cubicBezTo>
                  <a:cubicBezTo>
                    <a:pt x="378709" y="28028"/>
                    <a:pt x="384856" y="42868"/>
                    <a:pt x="384856" y="58340"/>
                  </a:cubicBezTo>
                  <a:lnTo>
                    <a:pt x="384856" y="58340"/>
                  </a:lnTo>
                  <a:cubicBezTo>
                    <a:pt x="384856" y="73813"/>
                    <a:pt x="378709" y="88652"/>
                    <a:pt x="367768" y="99593"/>
                  </a:cubicBezTo>
                  <a:cubicBezTo>
                    <a:pt x="356827" y="110534"/>
                    <a:pt x="341988" y="116681"/>
                    <a:pt x="326515" y="116681"/>
                  </a:cubicBezTo>
                  <a:lnTo>
                    <a:pt x="58340" y="116681"/>
                  </a:lnTo>
                  <a:cubicBezTo>
                    <a:pt x="42868" y="116681"/>
                    <a:pt x="28028" y="110534"/>
                    <a:pt x="17088" y="99593"/>
                  </a:cubicBezTo>
                  <a:cubicBezTo>
                    <a:pt x="6147" y="88652"/>
                    <a:pt x="0" y="73813"/>
                    <a:pt x="0" y="58340"/>
                  </a:cubicBezTo>
                  <a:lnTo>
                    <a:pt x="0" y="58340"/>
                  </a:lnTo>
                  <a:cubicBezTo>
                    <a:pt x="0" y="42868"/>
                    <a:pt x="6147" y="28028"/>
                    <a:pt x="17088" y="17088"/>
                  </a:cubicBezTo>
                  <a:cubicBezTo>
                    <a:pt x="28028" y="6147"/>
                    <a:pt x="42868" y="0"/>
                    <a:pt x="58340" y="0"/>
                  </a:cubicBezTo>
                  <a:close/>
                </a:path>
              </a:pathLst>
            </a:custGeom>
            <a:ln w="9525" cap="rnd">
              <a:solidFill>
                <a:srgbClr val="737373"/>
              </a:solidFill>
              <a:prstDash val="solid"/>
              <a:round/>
            </a:ln>
          </p:spPr>
        </p:sp>
        <p:sp>
          <p:nvSpPr>
            <p:cNvPr name="TextBox 4" id="4"/>
            <p:cNvSpPr txBox="true"/>
            <p:nvPr/>
          </p:nvSpPr>
          <p:spPr>
            <a:xfrm>
              <a:off x="0" y="57150"/>
              <a:ext cx="384856" cy="59531"/>
            </a:xfrm>
            <a:prstGeom prst="rect">
              <a:avLst/>
            </a:prstGeom>
          </p:spPr>
          <p:txBody>
            <a:bodyPr anchor="ctr" rtlCol="false" tIns="50800" lIns="50800" bIns="50800" rIns="50800"/>
            <a:lstStyle/>
            <a:p>
              <a:pPr algn="ctr">
                <a:lnSpc>
                  <a:spcPts val="2112"/>
                </a:lnSpc>
              </a:pPr>
            </a:p>
          </p:txBody>
        </p:sp>
      </p:grpSp>
      <p:sp>
        <p:nvSpPr>
          <p:cNvPr name="TextBox 5" id="5"/>
          <p:cNvSpPr txBox="true"/>
          <p:nvPr/>
        </p:nvSpPr>
        <p:spPr>
          <a:xfrm rot="0">
            <a:off x="2607391" y="3912266"/>
            <a:ext cx="13073218" cy="1135711"/>
          </a:xfrm>
          <a:prstGeom prst="rect">
            <a:avLst/>
          </a:prstGeom>
        </p:spPr>
        <p:txBody>
          <a:bodyPr anchor="t" rtlCol="false" tIns="0" lIns="0" bIns="0" rIns="0">
            <a:spAutoFit/>
          </a:bodyPr>
          <a:lstStyle/>
          <a:p>
            <a:pPr algn="ctr">
              <a:lnSpc>
                <a:spcPts val="8152"/>
              </a:lnSpc>
            </a:pPr>
            <a:r>
              <a:rPr lang="en-US" sz="9057">
                <a:solidFill>
                  <a:srgbClr val="C1FF72"/>
                </a:solidFill>
                <a:latin typeface="Bicubik"/>
                <a:ea typeface="Bicubik"/>
                <a:cs typeface="Bicubik"/>
                <a:sym typeface="Bicubik"/>
              </a:rPr>
              <a:t>Thank You</a:t>
            </a:r>
          </a:p>
        </p:txBody>
      </p:sp>
      <p:sp>
        <p:nvSpPr>
          <p:cNvPr name="TextBox 6" id="6"/>
          <p:cNvSpPr txBox="true"/>
          <p:nvPr/>
        </p:nvSpPr>
        <p:spPr>
          <a:xfrm rot="0">
            <a:off x="16368375" y="633185"/>
            <a:ext cx="1099333" cy="156845"/>
          </a:xfrm>
          <a:prstGeom prst="rect">
            <a:avLst/>
          </a:prstGeom>
        </p:spPr>
        <p:txBody>
          <a:bodyPr anchor="t" rtlCol="false" tIns="0" lIns="0" bIns="0" rIns="0">
            <a:spAutoFit/>
          </a:bodyPr>
          <a:lstStyle/>
          <a:p>
            <a:pPr algn="ctr">
              <a:lnSpc>
                <a:spcPts val="1120"/>
              </a:lnSpc>
            </a:pPr>
            <a:r>
              <a:rPr lang="en-US" sz="1400" spc="-56">
                <a:solidFill>
                  <a:srgbClr val="C1FF72"/>
                </a:solidFill>
                <a:latin typeface="Open Sauce"/>
                <a:ea typeface="Open Sauce"/>
                <a:cs typeface="Open Sauce"/>
                <a:sym typeface="Open Sauce"/>
              </a:rPr>
              <a:t>Contact Us</a:t>
            </a:r>
          </a:p>
        </p:txBody>
      </p:sp>
      <p:sp>
        <p:nvSpPr>
          <p:cNvPr name="TextBox 7" id="7"/>
          <p:cNvSpPr txBox="true"/>
          <p:nvPr/>
        </p:nvSpPr>
        <p:spPr>
          <a:xfrm rot="0">
            <a:off x="6669202" y="633185"/>
            <a:ext cx="660185" cy="156845"/>
          </a:xfrm>
          <a:prstGeom prst="rect">
            <a:avLst/>
          </a:prstGeom>
        </p:spPr>
        <p:txBody>
          <a:bodyPr anchor="t" rtlCol="false" tIns="0" lIns="0" bIns="0" rIns="0">
            <a:spAutoFit/>
          </a:bodyPr>
          <a:lstStyle/>
          <a:p>
            <a:pPr algn="ctr">
              <a:lnSpc>
                <a:spcPts val="1120"/>
              </a:lnSpc>
            </a:pPr>
            <a:r>
              <a:rPr lang="en-US" sz="1400" spc="-56">
                <a:solidFill>
                  <a:srgbClr val="D9D9D9"/>
                </a:solidFill>
                <a:latin typeface="Open Sauce"/>
                <a:ea typeface="Open Sauce"/>
                <a:cs typeface="Open Sauce"/>
                <a:sym typeface="Open Sauce"/>
              </a:rPr>
              <a:t>Home</a:t>
            </a:r>
          </a:p>
        </p:txBody>
      </p:sp>
      <p:sp>
        <p:nvSpPr>
          <p:cNvPr name="TextBox 8" id="8"/>
          <p:cNvSpPr txBox="true"/>
          <p:nvPr/>
        </p:nvSpPr>
        <p:spPr>
          <a:xfrm rot="0">
            <a:off x="7694260" y="633185"/>
            <a:ext cx="1025816"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Innovations</a:t>
            </a:r>
          </a:p>
        </p:txBody>
      </p:sp>
      <p:sp>
        <p:nvSpPr>
          <p:cNvPr name="TextBox 9" id="9"/>
          <p:cNvSpPr txBox="true"/>
          <p:nvPr/>
        </p:nvSpPr>
        <p:spPr>
          <a:xfrm rot="0">
            <a:off x="9084947" y="633185"/>
            <a:ext cx="1085810"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Community</a:t>
            </a:r>
          </a:p>
        </p:txBody>
      </p:sp>
      <p:sp>
        <p:nvSpPr>
          <p:cNvPr name="TextBox 10" id="10"/>
          <p:cNvSpPr txBox="true"/>
          <p:nvPr/>
        </p:nvSpPr>
        <p:spPr>
          <a:xfrm rot="0">
            <a:off x="10535629" y="633185"/>
            <a:ext cx="936879" cy="156845"/>
          </a:xfrm>
          <a:prstGeom prst="rect">
            <a:avLst/>
          </a:prstGeom>
        </p:spPr>
        <p:txBody>
          <a:bodyPr anchor="t" rtlCol="false" tIns="0" lIns="0" bIns="0" rIns="0">
            <a:spAutoFit/>
          </a:bodyPr>
          <a:lstStyle/>
          <a:p>
            <a:pPr algn="ctr">
              <a:lnSpc>
                <a:spcPts val="1120"/>
              </a:lnSpc>
            </a:pPr>
            <a:r>
              <a:rPr lang="en-US" sz="1400" spc="-56">
                <a:solidFill>
                  <a:srgbClr val="737373"/>
                </a:solidFill>
                <a:latin typeface="Open Sauce"/>
                <a:ea typeface="Open Sauce"/>
                <a:cs typeface="Open Sauce"/>
                <a:sym typeface="Open Sauce"/>
              </a:rPr>
              <a:t>Our Work</a:t>
            </a:r>
          </a:p>
        </p:txBody>
      </p:sp>
      <p:sp>
        <p:nvSpPr>
          <p:cNvPr name="Freeform 11" id="11"/>
          <p:cNvSpPr/>
          <p:nvPr/>
        </p:nvSpPr>
        <p:spPr>
          <a:xfrm flipH="false" flipV="false" rot="0">
            <a:off x="8905610" y="2813402"/>
            <a:ext cx="476779" cy="119195"/>
          </a:xfrm>
          <a:custGeom>
            <a:avLst/>
            <a:gdLst/>
            <a:ahLst/>
            <a:cxnLst/>
            <a:rect r="r" b="b" t="t" l="l"/>
            <a:pathLst>
              <a:path h="119195" w="476779">
                <a:moveTo>
                  <a:pt x="0" y="0"/>
                </a:moveTo>
                <a:lnTo>
                  <a:pt x="476780" y="0"/>
                </a:lnTo>
                <a:lnTo>
                  <a:pt x="476780" y="119194"/>
                </a:lnTo>
                <a:lnTo>
                  <a:pt x="0" y="119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584095">
            <a:off x="1236524" y="3140420"/>
            <a:ext cx="2686958" cy="2686958"/>
            <a:chOff x="0" y="0"/>
            <a:chExt cx="6350000" cy="6350000"/>
          </a:xfrm>
        </p:grpSpPr>
        <p:sp>
          <p:nvSpPr>
            <p:cNvPr name="Freeform 13" id="13"/>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4"/>
              <a:stretch>
                <a:fillRect l="-25031" t="0" r="-25031" b="0"/>
              </a:stretch>
            </a:blipFill>
          </p:spPr>
        </p:sp>
      </p:grpSp>
      <p:sp>
        <p:nvSpPr>
          <p:cNvPr name="Freeform 14" id="14"/>
          <p:cNvSpPr/>
          <p:nvPr/>
        </p:nvSpPr>
        <p:spPr>
          <a:xfrm flipH="false" flipV="false" rot="0">
            <a:off x="3740755" y="4091436"/>
            <a:ext cx="781100" cy="781100"/>
          </a:xfrm>
          <a:custGeom>
            <a:avLst/>
            <a:gdLst/>
            <a:ahLst/>
            <a:cxnLst/>
            <a:rect r="r" b="b" t="t" l="l"/>
            <a:pathLst>
              <a:path h="781100" w="781100">
                <a:moveTo>
                  <a:pt x="0" y="0"/>
                </a:moveTo>
                <a:lnTo>
                  <a:pt x="781101" y="0"/>
                </a:lnTo>
                <a:lnTo>
                  <a:pt x="781101" y="781100"/>
                </a:lnTo>
                <a:lnTo>
                  <a:pt x="0" y="7811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578107">
            <a:off x="14366431" y="3138507"/>
            <a:ext cx="2686958" cy="2686958"/>
            <a:chOff x="0" y="0"/>
            <a:chExt cx="6350000" cy="6350000"/>
          </a:xfrm>
        </p:grpSpPr>
        <p:sp>
          <p:nvSpPr>
            <p:cNvPr name="Freeform 16" id="16"/>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25031" t="0" r="-25031" b="0"/>
              </a:stretch>
            </a:blipFill>
          </p:spPr>
        </p:sp>
      </p:grpSp>
      <p:grpSp>
        <p:nvGrpSpPr>
          <p:cNvPr name="Group 17" id="17"/>
          <p:cNvGrpSpPr/>
          <p:nvPr/>
        </p:nvGrpSpPr>
        <p:grpSpPr>
          <a:xfrm rot="0">
            <a:off x="1028700" y="8351997"/>
            <a:ext cx="16230600" cy="945013"/>
            <a:chOff x="0" y="0"/>
            <a:chExt cx="4274726" cy="248892"/>
          </a:xfrm>
        </p:grpSpPr>
        <p:sp>
          <p:nvSpPr>
            <p:cNvPr name="Freeform 18" id="18"/>
            <p:cNvSpPr/>
            <p:nvPr/>
          </p:nvSpPr>
          <p:spPr>
            <a:xfrm flipH="false" flipV="false" rot="0">
              <a:off x="0" y="0"/>
              <a:ext cx="4274726" cy="248892"/>
            </a:xfrm>
            <a:custGeom>
              <a:avLst/>
              <a:gdLst/>
              <a:ahLst/>
              <a:cxnLst/>
              <a:rect r="r" b="b" t="t" l="l"/>
              <a:pathLst>
                <a:path h="248892" w="4274726">
                  <a:moveTo>
                    <a:pt x="0" y="0"/>
                  </a:moveTo>
                  <a:lnTo>
                    <a:pt x="4274726" y="0"/>
                  </a:lnTo>
                  <a:lnTo>
                    <a:pt x="4274726" y="248892"/>
                  </a:lnTo>
                  <a:lnTo>
                    <a:pt x="0" y="248892"/>
                  </a:lnTo>
                  <a:close/>
                </a:path>
              </a:pathLst>
            </a:custGeom>
            <a:solidFill>
              <a:srgbClr val="1E1E1E"/>
            </a:solidFill>
            <a:ln w="9525" cap="sq">
              <a:solidFill>
                <a:srgbClr val="737373"/>
              </a:solidFill>
              <a:prstDash val="solid"/>
              <a:miter/>
            </a:ln>
          </p:spPr>
        </p:sp>
        <p:sp>
          <p:nvSpPr>
            <p:cNvPr name="TextBox 19" id="19"/>
            <p:cNvSpPr txBox="true"/>
            <p:nvPr/>
          </p:nvSpPr>
          <p:spPr>
            <a:xfrm>
              <a:off x="0" y="47625"/>
              <a:ext cx="4274726" cy="201267"/>
            </a:xfrm>
            <a:prstGeom prst="rect">
              <a:avLst/>
            </a:prstGeom>
          </p:spPr>
          <p:txBody>
            <a:bodyPr anchor="ctr" rtlCol="false" tIns="50800" lIns="50800" bIns="50800" rIns="50800"/>
            <a:lstStyle/>
            <a:p>
              <a:pPr algn="ctr">
                <a:lnSpc>
                  <a:spcPts val="1120"/>
                </a:lnSpc>
              </a:pPr>
            </a:p>
          </p:txBody>
        </p:sp>
      </p:grpSp>
      <p:sp>
        <p:nvSpPr>
          <p:cNvPr name="Freeform 20" id="20"/>
          <p:cNvSpPr/>
          <p:nvPr/>
        </p:nvSpPr>
        <p:spPr>
          <a:xfrm flipH="false" flipV="false" rot="0">
            <a:off x="1446145" y="8636104"/>
            <a:ext cx="376800" cy="376800"/>
          </a:xfrm>
          <a:custGeom>
            <a:avLst/>
            <a:gdLst/>
            <a:ahLst/>
            <a:cxnLst/>
            <a:rect r="r" b="b" t="t" l="l"/>
            <a:pathLst>
              <a:path h="376800" w="376800">
                <a:moveTo>
                  <a:pt x="0" y="0"/>
                </a:moveTo>
                <a:lnTo>
                  <a:pt x="376800" y="0"/>
                </a:lnTo>
                <a:lnTo>
                  <a:pt x="376800" y="376800"/>
                </a:lnTo>
                <a:lnTo>
                  <a:pt x="0" y="376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2124803" y="8678136"/>
            <a:ext cx="1354258" cy="240731"/>
          </a:xfrm>
          <a:prstGeom prst="rect">
            <a:avLst/>
          </a:prstGeom>
        </p:spPr>
        <p:txBody>
          <a:bodyPr anchor="t" rtlCol="false" tIns="0" lIns="0" bIns="0" rIns="0">
            <a:spAutoFit/>
          </a:bodyPr>
          <a:lstStyle/>
          <a:p>
            <a:pPr algn="l">
              <a:lnSpc>
                <a:spcPts val="1960"/>
              </a:lnSpc>
              <a:spcBef>
                <a:spcPct val="0"/>
              </a:spcBef>
            </a:pPr>
            <a:r>
              <a:rPr lang="en-US" sz="1400">
                <a:solidFill>
                  <a:srgbClr val="D9D9D9"/>
                </a:solidFill>
                <a:latin typeface="Open Sauce"/>
                <a:ea typeface="Open Sauce"/>
                <a:cs typeface="Open Sauce"/>
                <a:sym typeface="Open Sauce"/>
              </a:rPr>
              <a:t>+123-456-7890</a:t>
            </a:r>
          </a:p>
        </p:txBody>
      </p:sp>
      <p:sp>
        <p:nvSpPr>
          <p:cNvPr name="Freeform 22" id="22"/>
          <p:cNvSpPr/>
          <p:nvPr/>
        </p:nvSpPr>
        <p:spPr>
          <a:xfrm flipH="false" flipV="false" rot="0">
            <a:off x="4402993" y="8626295"/>
            <a:ext cx="396418" cy="396418"/>
          </a:xfrm>
          <a:custGeom>
            <a:avLst/>
            <a:gdLst/>
            <a:ahLst/>
            <a:cxnLst/>
            <a:rect r="r" b="b" t="t" l="l"/>
            <a:pathLst>
              <a:path h="396418" w="396418">
                <a:moveTo>
                  <a:pt x="0" y="0"/>
                </a:moveTo>
                <a:lnTo>
                  <a:pt x="396418" y="0"/>
                </a:lnTo>
                <a:lnTo>
                  <a:pt x="396418" y="396418"/>
                </a:lnTo>
                <a:lnTo>
                  <a:pt x="0" y="3964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5104211" y="8678136"/>
            <a:ext cx="2225176" cy="240731"/>
          </a:xfrm>
          <a:prstGeom prst="rect">
            <a:avLst/>
          </a:prstGeom>
        </p:spPr>
        <p:txBody>
          <a:bodyPr anchor="t" rtlCol="false" tIns="0" lIns="0" bIns="0" rIns="0">
            <a:spAutoFit/>
          </a:bodyPr>
          <a:lstStyle/>
          <a:p>
            <a:pPr algn="l">
              <a:lnSpc>
                <a:spcPts val="1960"/>
              </a:lnSpc>
              <a:spcBef>
                <a:spcPct val="0"/>
              </a:spcBef>
            </a:pPr>
            <a:r>
              <a:rPr lang="en-US" sz="1400">
                <a:solidFill>
                  <a:srgbClr val="D9D9D9"/>
                </a:solidFill>
                <a:latin typeface="Open Sauce"/>
                <a:ea typeface="Open Sauce"/>
                <a:cs typeface="Open Sauce"/>
                <a:sym typeface="Open Sauce"/>
              </a:rPr>
              <a:t>www.reallygreatsite.com</a:t>
            </a:r>
          </a:p>
        </p:txBody>
      </p:sp>
      <p:sp>
        <p:nvSpPr>
          <p:cNvPr name="Freeform 24" id="24"/>
          <p:cNvSpPr/>
          <p:nvPr/>
        </p:nvSpPr>
        <p:spPr>
          <a:xfrm flipH="false" flipV="false" rot="0">
            <a:off x="8314562" y="8626295"/>
            <a:ext cx="396418" cy="396418"/>
          </a:xfrm>
          <a:custGeom>
            <a:avLst/>
            <a:gdLst/>
            <a:ahLst/>
            <a:cxnLst/>
            <a:rect r="r" b="b" t="t" l="l"/>
            <a:pathLst>
              <a:path h="396418" w="396418">
                <a:moveTo>
                  <a:pt x="0" y="0"/>
                </a:moveTo>
                <a:lnTo>
                  <a:pt x="396417" y="0"/>
                </a:lnTo>
                <a:lnTo>
                  <a:pt x="396417" y="396418"/>
                </a:lnTo>
                <a:lnTo>
                  <a:pt x="0" y="3964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5" id="25"/>
          <p:cNvSpPr txBox="true"/>
          <p:nvPr/>
        </p:nvSpPr>
        <p:spPr>
          <a:xfrm rot="0">
            <a:off x="9015779" y="8678136"/>
            <a:ext cx="2887656" cy="240731"/>
          </a:xfrm>
          <a:prstGeom prst="rect">
            <a:avLst/>
          </a:prstGeom>
        </p:spPr>
        <p:txBody>
          <a:bodyPr anchor="t" rtlCol="false" tIns="0" lIns="0" bIns="0" rIns="0">
            <a:spAutoFit/>
          </a:bodyPr>
          <a:lstStyle/>
          <a:p>
            <a:pPr algn="l">
              <a:lnSpc>
                <a:spcPts val="1960"/>
              </a:lnSpc>
              <a:spcBef>
                <a:spcPct val="0"/>
              </a:spcBef>
            </a:pPr>
            <a:r>
              <a:rPr lang="en-US" sz="1400">
                <a:solidFill>
                  <a:srgbClr val="D9D9D9"/>
                </a:solidFill>
                <a:latin typeface="Open Sauce"/>
                <a:ea typeface="Open Sauce"/>
                <a:cs typeface="Open Sauce"/>
                <a:sym typeface="Open Sauce"/>
              </a:rPr>
              <a:t>hello@reallygreatsite.com</a:t>
            </a:r>
          </a:p>
        </p:txBody>
      </p:sp>
      <p:sp>
        <p:nvSpPr>
          <p:cNvPr name="Freeform 26" id="26"/>
          <p:cNvSpPr/>
          <p:nvPr/>
        </p:nvSpPr>
        <p:spPr>
          <a:xfrm flipH="false" flipV="false" rot="0">
            <a:off x="12602627" y="8626295"/>
            <a:ext cx="396418" cy="396418"/>
          </a:xfrm>
          <a:custGeom>
            <a:avLst/>
            <a:gdLst/>
            <a:ahLst/>
            <a:cxnLst/>
            <a:rect r="r" b="b" t="t" l="l"/>
            <a:pathLst>
              <a:path h="396418" w="396418">
                <a:moveTo>
                  <a:pt x="0" y="0"/>
                </a:moveTo>
                <a:lnTo>
                  <a:pt x="396418" y="0"/>
                </a:lnTo>
                <a:lnTo>
                  <a:pt x="396418" y="396418"/>
                </a:lnTo>
                <a:lnTo>
                  <a:pt x="0" y="39641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7" id="27"/>
          <p:cNvSpPr txBox="true"/>
          <p:nvPr/>
        </p:nvSpPr>
        <p:spPr>
          <a:xfrm rot="0">
            <a:off x="13303845" y="8678136"/>
            <a:ext cx="3538011" cy="240731"/>
          </a:xfrm>
          <a:prstGeom prst="rect">
            <a:avLst/>
          </a:prstGeom>
        </p:spPr>
        <p:txBody>
          <a:bodyPr anchor="t" rtlCol="false" tIns="0" lIns="0" bIns="0" rIns="0">
            <a:spAutoFit/>
          </a:bodyPr>
          <a:lstStyle/>
          <a:p>
            <a:pPr algn="l">
              <a:lnSpc>
                <a:spcPts val="1960"/>
              </a:lnSpc>
              <a:spcBef>
                <a:spcPct val="0"/>
              </a:spcBef>
            </a:pPr>
            <a:r>
              <a:rPr lang="en-US" sz="1400">
                <a:solidFill>
                  <a:srgbClr val="D9D9D9"/>
                </a:solidFill>
                <a:latin typeface="Open Sauce"/>
                <a:ea typeface="Open Sauce"/>
                <a:cs typeface="Open Sauce"/>
                <a:sym typeface="Open Sauce"/>
              </a:rPr>
              <a:t>123 Anywhere St., Any City, ST 12345</a:t>
            </a:r>
          </a:p>
        </p:txBody>
      </p:sp>
      <p:sp>
        <p:nvSpPr>
          <p:cNvPr name="Freeform 28" id="28"/>
          <p:cNvSpPr/>
          <p:nvPr/>
        </p:nvSpPr>
        <p:spPr>
          <a:xfrm flipH="false" flipV="false" rot="0">
            <a:off x="13769971" y="4093349"/>
            <a:ext cx="781100" cy="781100"/>
          </a:xfrm>
          <a:custGeom>
            <a:avLst/>
            <a:gdLst/>
            <a:ahLst/>
            <a:cxnLst/>
            <a:rect r="r" b="b" t="t" l="l"/>
            <a:pathLst>
              <a:path h="781100" w="781100">
                <a:moveTo>
                  <a:pt x="0" y="0"/>
                </a:moveTo>
                <a:lnTo>
                  <a:pt x="781100" y="0"/>
                </a:lnTo>
                <a:lnTo>
                  <a:pt x="781100" y="781100"/>
                </a:lnTo>
                <a:lnTo>
                  <a:pt x="0" y="7811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1050928" y="6778152"/>
            <a:ext cx="1616773" cy="884816"/>
          </a:xfrm>
          <a:custGeom>
            <a:avLst/>
            <a:gdLst/>
            <a:ahLst/>
            <a:cxnLst/>
            <a:rect r="r" b="b" t="t" l="l"/>
            <a:pathLst>
              <a:path h="884816" w="1616773">
                <a:moveTo>
                  <a:pt x="0" y="0"/>
                </a:moveTo>
                <a:lnTo>
                  <a:pt x="1616773" y="0"/>
                </a:lnTo>
                <a:lnTo>
                  <a:pt x="1616773" y="884816"/>
                </a:lnTo>
                <a:lnTo>
                  <a:pt x="0" y="88481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0" id="30"/>
          <p:cNvSpPr/>
          <p:nvPr/>
        </p:nvSpPr>
        <p:spPr>
          <a:xfrm flipH="false" flipV="false" rot="0">
            <a:off x="15620299" y="6778152"/>
            <a:ext cx="1616773" cy="884816"/>
          </a:xfrm>
          <a:custGeom>
            <a:avLst/>
            <a:gdLst/>
            <a:ahLst/>
            <a:cxnLst/>
            <a:rect r="r" b="b" t="t" l="l"/>
            <a:pathLst>
              <a:path h="884816" w="1616773">
                <a:moveTo>
                  <a:pt x="0" y="0"/>
                </a:moveTo>
                <a:lnTo>
                  <a:pt x="1616773" y="0"/>
                </a:lnTo>
                <a:lnTo>
                  <a:pt x="1616773" y="884816"/>
                </a:lnTo>
                <a:lnTo>
                  <a:pt x="0" y="88481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1" id="31"/>
          <p:cNvSpPr txBox="true"/>
          <p:nvPr/>
        </p:nvSpPr>
        <p:spPr>
          <a:xfrm rot="0">
            <a:off x="4519943" y="6271925"/>
            <a:ext cx="9248115" cy="983879"/>
          </a:xfrm>
          <a:prstGeom prst="rect">
            <a:avLst/>
          </a:prstGeom>
        </p:spPr>
        <p:txBody>
          <a:bodyPr anchor="t" rtlCol="false" tIns="0" lIns="0" bIns="0" rIns="0">
            <a:spAutoFit/>
          </a:bodyPr>
          <a:lstStyle/>
          <a:p>
            <a:pPr algn="ctr">
              <a:lnSpc>
                <a:spcPts val="1960"/>
              </a:lnSpc>
              <a:spcBef>
                <a:spcPct val="0"/>
              </a:spcBef>
            </a:pPr>
            <a:r>
              <a:rPr lang="en-US" sz="1400">
                <a:solidFill>
                  <a:srgbClr val="D9D9D9"/>
                </a:solidFill>
                <a:latin typeface="Open Sauce"/>
                <a:ea typeface="Open Sauce"/>
                <a:cs typeface="Open Sauce"/>
                <a:sym typeface="Open Sauce"/>
              </a:rPr>
              <a:t>Machine learning is shaping the future, don’t just watch, be part of it! Start by learning fundamental concepts, experimenting with datasets, and building small projects. Join online communities, participate in open-source projects, and stay updated with the latest trends. Whether you're a researcher, developer, or enthusiast, your contributions can drive meaningful advancements in AI!</a:t>
            </a:r>
          </a:p>
        </p:txBody>
      </p:sp>
      <p:sp>
        <p:nvSpPr>
          <p:cNvPr name="Freeform 32" id="32"/>
          <p:cNvSpPr/>
          <p:nvPr/>
        </p:nvSpPr>
        <p:spPr>
          <a:xfrm flipH="false" flipV="false" rot="0">
            <a:off x="672935" y="585560"/>
            <a:ext cx="220788" cy="191082"/>
          </a:xfrm>
          <a:custGeom>
            <a:avLst/>
            <a:gdLst/>
            <a:ahLst/>
            <a:cxnLst/>
            <a:rect r="r" b="b" t="t" l="l"/>
            <a:pathLst>
              <a:path h="191082" w="220788">
                <a:moveTo>
                  <a:pt x="0" y="0"/>
                </a:moveTo>
                <a:lnTo>
                  <a:pt x="220787" y="0"/>
                </a:lnTo>
                <a:lnTo>
                  <a:pt x="220787" y="191081"/>
                </a:lnTo>
                <a:lnTo>
                  <a:pt x="0" y="19108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33" id="33"/>
          <p:cNvSpPr txBox="true"/>
          <p:nvPr/>
        </p:nvSpPr>
        <p:spPr>
          <a:xfrm rot="0">
            <a:off x="993431" y="614071"/>
            <a:ext cx="1673355" cy="176023"/>
          </a:xfrm>
          <a:prstGeom prst="rect">
            <a:avLst/>
          </a:prstGeom>
        </p:spPr>
        <p:txBody>
          <a:bodyPr anchor="t" rtlCol="false" tIns="0" lIns="0" bIns="0" rIns="0">
            <a:spAutoFit/>
          </a:bodyPr>
          <a:lstStyle/>
          <a:p>
            <a:pPr algn="l">
              <a:lnSpc>
                <a:spcPts val="1344"/>
              </a:lnSpc>
            </a:pPr>
            <a:r>
              <a:rPr lang="en-US" sz="1400" spc="-49">
                <a:solidFill>
                  <a:srgbClr val="D9D9D9"/>
                </a:solidFill>
                <a:latin typeface="Open Sauce Light"/>
                <a:ea typeface="Open Sauce Light"/>
                <a:cs typeface="Open Sauce Light"/>
                <a:sym typeface="Open Sauce Light"/>
              </a:rPr>
              <a:t>Studio Shodwe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DAHJ2RQi9A4</dc:identifier>
  <dcterms:modified xsi:type="dcterms:W3CDTF">2011-08-01T06:04:30Z</dcterms:modified>
  <cp:revision>1</cp:revision>
  <dc:title>Green and Black Modern Machine Learning Presentation</dc:title>
</cp:coreProperties>
</file>